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x="18288000" cy="10287000"/>
  <p:notesSz cx="6858000" cy="9144000"/>
  <p:embeddedFontLst>
    <p:embeddedFont>
      <p:font typeface="Archivo Black" charset="1" panose="020B0A03020202020B04"/>
      <p:regular r:id="rId19"/>
    </p:embeddedFont>
    <p:embeddedFont>
      <p:font typeface="Quicksand Bold" charset="1" panose="00000000000000000000"/>
      <p:regular r:id="rId20"/>
    </p:embeddedFont>
    <p:embeddedFont>
      <p:font typeface="Quicksand" charset="1" panose="00000000000000000000"/>
      <p:regular r:id="rId21"/>
    </p:embeddedFont>
    <p:embeddedFont>
      <p:font typeface="Canva Sans Bold" charset="1" panose="020B0803030501040103"/>
      <p:regular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svg" Type="http://schemas.openxmlformats.org/officeDocument/2006/relationships/image"/><Relationship Id="rId11" Target="../media/image10.png" Type="http://schemas.openxmlformats.org/officeDocument/2006/relationships/image"/><Relationship Id="rId12" Target="../media/image11.svg" Type="http://schemas.openxmlformats.org/officeDocument/2006/relationships/image"/><Relationship Id="rId13" Target="../media/image12.png" Type="http://schemas.openxmlformats.org/officeDocument/2006/relationships/image"/><Relationship Id="rId14" Target="../media/image13.svg" Type="http://schemas.openxmlformats.org/officeDocument/2006/relationships/image"/><Relationship Id="rId15" Target="../media/image14.png" Type="http://schemas.openxmlformats.org/officeDocument/2006/relationships/image"/><Relationship Id="rId16" Target="../media/image15.svg" Type="http://schemas.openxmlformats.org/officeDocument/2006/relationships/image"/><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8.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5.svg" Type="http://schemas.openxmlformats.org/officeDocument/2006/relationships/image"/><Relationship Id="rId2" Target="../media/image16.pn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2.png" Type="http://schemas.openxmlformats.org/officeDocument/2006/relationships/image"/><Relationship Id="rId6" Target="../media/image3.svg" Type="http://schemas.openxmlformats.org/officeDocument/2006/relationships/image"/><Relationship Id="rId7" Target="../media/image10.png" Type="http://schemas.openxmlformats.org/officeDocument/2006/relationships/image"/><Relationship Id="rId8" Target="../media/image11.svg" Type="http://schemas.openxmlformats.org/officeDocument/2006/relationships/image"/><Relationship Id="rId9" Target="../media/image14.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svg" Type="http://schemas.openxmlformats.org/officeDocument/2006/relationships/image"/><Relationship Id="rId11" Target="../media/image20.png" Type="http://schemas.openxmlformats.org/officeDocument/2006/relationships/image"/><Relationship Id="rId12" Target="../media/image21.svg" Type="http://schemas.openxmlformats.org/officeDocument/2006/relationships/image"/><Relationship Id="rId2" Target="../media/image17.jpeg" Type="http://schemas.openxmlformats.org/officeDocument/2006/relationships/image"/><Relationship Id="rId3" Target="../media/image18.png" Type="http://schemas.openxmlformats.org/officeDocument/2006/relationships/image"/><Relationship Id="rId4" Target="../media/image19.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2.png" Type="http://schemas.openxmlformats.org/officeDocument/2006/relationships/image"/><Relationship Id="rId8" Target="../media/image3.svg" Type="http://schemas.openxmlformats.org/officeDocument/2006/relationships/image"/><Relationship Id="rId9" Target="../media/image10.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svg" Type="http://schemas.openxmlformats.org/officeDocument/2006/relationships/image"/><Relationship Id="rId11" Target="../media/image20.png" Type="http://schemas.openxmlformats.org/officeDocument/2006/relationships/image"/><Relationship Id="rId12" Target="../media/image21.svg" Type="http://schemas.openxmlformats.org/officeDocument/2006/relationships/image"/><Relationship Id="rId2" Target="../media/image17.jpeg" Type="http://schemas.openxmlformats.org/officeDocument/2006/relationships/image"/><Relationship Id="rId3" Target="../media/image18.png" Type="http://schemas.openxmlformats.org/officeDocument/2006/relationships/image"/><Relationship Id="rId4" Target="../media/image19.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2.png" Type="http://schemas.openxmlformats.org/officeDocument/2006/relationships/image"/><Relationship Id="rId8" Target="../media/image3.svg" Type="http://schemas.openxmlformats.org/officeDocument/2006/relationships/image"/><Relationship Id="rId9" Target="../media/image10.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 Id="rId4" Target="../media/image22.png" Type="http://schemas.openxmlformats.org/officeDocument/2006/relationships/image"/><Relationship Id="rId5" Target="../media/image23.svg" Type="http://schemas.openxmlformats.org/officeDocument/2006/relationships/image"/><Relationship Id="rId6" Target="../media/image24.png" Type="http://schemas.openxmlformats.org/officeDocument/2006/relationships/image"/><Relationship Id="rId7" Target="../media/image25.svg" Type="http://schemas.openxmlformats.org/officeDocument/2006/relationships/image"/><Relationship Id="rId8" Target="../media/image10.png" Type="http://schemas.openxmlformats.org/officeDocument/2006/relationships/image"/><Relationship Id="rId9" Target="../media/image11.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 Id="rId4" Target="../media/image22.png" Type="http://schemas.openxmlformats.org/officeDocument/2006/relationships/image"/><Relationship Id="rId5" Target="../media/image23.svg" Type="http://schemas.openxmlformats.org/officeDocument/2006/relationships/image"/><Relationship Id="rId6" Target="../media/image24.png" Type="http://schemas.openxmlformats.org/officeDocument/2006/relationships/image"/><Relationship Id="rId7" Target="../media/image25.svg" Type="http://schemas.openxmlformats.org/officeDocument/2006/relationships/image"/><Relationship Id="rId8" Target="../media/image10.png" Type="http://schemas.openxmlformats.org/officeDocument/2006/relationships/image"/><Relationship Id="rId9" Target="../media/image11.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8.png" Type="http://schemas.openxmlformats.org/officeDocument/2006/relationships/image"/><Relationship Id="rId11" Target="../media/image29.svg" Type="http://schemas.openxmlformats.org/officeDocument/2006/relationships/image"/><Relationship Id="rId2" Target="../media/image18.png" Type="http://schemas.openxmlformats.org/officeDocument/2006/relationships/image"/><Relationship Id="rId3" Target="../media/image19.svg" Type="http://schemas.openxmlformats.org/officeDocument/2006/relationships/image"/><Relationship Id="rId4" Target="../media/image26.png" Type="http://schemas.openxmlformats.org/officeDocument/2006/relationships/image"/><Relationship Id="rId5" Target="../media/image27.svg" Type="http://schemas.openxmlformats.org/officeDocument/2006/relationships/image"/><Relationship Id="rId6" Target="../media/image22.png" Type="http://schemas.openxmlformats.org/officeDocument/2006/relationships/image"/><Relationship Id="rId7" Target="../media/image23.svg" Type="http://schemas.openxmlformats.org/officeDocument/2006/relationships/image"/><Relationship Id="rId8" Target="../media/image10.png" Type="http://schemas.openxmlformats.org/officeDocument/2006/relationships/image"/><Relationship Id="rId9" Target="../media/image11.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4.png" Type="http://schemas.openxmlformats.org/officeDocument/2006/relationships/image"/><Relationship Id="rId11" Target="../media/image15.svg" Type="http://schemas.openxmlformats.org/officeDocument/2006/relationships/image"/><Relationship Id="rId12" Target="../media/image32.png" Type="http://schemas.openxmlformats.org/officeDocument/2006/relationships/image"/><Relationship Id="rId13" Target="../media/image33.png" Type="http://schemas.openxmlformats.org/officeDocument/2006/relationships/image"/><Relationship Id="rId2" Target="../media/image18.png" Type="http://schemas.openxmlformats.org/officeDocument/2006/relationships/image"/><Relationship Id="rId3" Target="../media/image19.svg" Type="http://schemas.openxmlformats.org/officeDocument/2006/relationships/image"/><Relationship Id="rId4" Target="../media/image2.png" Type="http://schemas.openxmlformats.org/officeDocument/2006/relationships/image"/><Relationship Id="rId5" Target="../media/image3.svg" Type="http://schemas.openxmlformats.org/officeDocument/2006/relationships/image"/><Relationship Id="rId6" Target="../media/image22.png" Type="http://schemas.openxmlformats.org/officeDocument/2006/relationships/image"/><Relationship Id="rId7" Target="../media/image23.svg" Type="http://schemas.openxmlformats.org/officeDocument/2006/relationships/image"/><Relationship Id="rId8" Target="../media/image30.png" Type="http://schemas.openxmlformats.org/officeDocument/2006/relationships/image"/><Relationship Id="rId9" Target="../media/image31.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4.png" Type="http://schemas.openxmlformats.org/officeDocument/2006/relationships/image"/><Relationship Id="rId11" Target="../media/image15.svg" Type="http://schemas.openxmlformats.org/officeDocument/2006/relationships/image"/><Relationship Id="rId12" Target="../media/image32.png" Type="http://schemas.openxmlformats.org/officeDocument/2006/relationships/image"/><Relationship Id="rId13" Target="../media/image34.png" Type="http://schemas.openxmlformats.org/officeDocument/2006/relationships/image"/><Relationship Id="rId2" Target="../media/image18.png" Type="http://schemas.openxmlformats.org/officeDocument/2006/relationships/image"/><Relationship Id="rId3" Target="../media/image19.svg" Type="http://schemas.openxmlformats.org/officeDocument/2006/relationships/image"/><Relationship Id="rId4" Target="../media/image2.png" Type="http://schemas.openxmlformats.org/officeDocument/2006/relationships/image"/><Relationship Id="rId5" Target="../media/image3.svg" Type="http://schemas.openxmlformats.org/officeDocument/2006/relationships/image"/><Relationship Id="rId6" Target="../media/image22.png" Type="http://schemas.openxmlformats.org/officeDocument/2006/relationships/image"/><Relationship Id="rId7" Target="../media/image23.svg" Type="http://schemas.openxmlformats.org/officeDocument/2006/relationships/image"/><Relationship Id="rId8" Target="../media/image30.png" Type="http://schemas.openxmlformats.org/officeDocument/2006/relationships/image"/><Relationship Id="rId9" Target="../media/image31.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4.png" Type="http://schemas.openxmlformats.org/officeDocument/2006/relationships/image"/><Relationship Id="rId11" Target="../media/image15.svg" Type="http://schemas.openxmlformats.org/officeDocument/2006/relationships/image"/><Relationship Id="rId12" Target="../media/image32.png" Type="http://schemas.openxmlformats.org/officeDocument/2006/relationships/image"/><Relationship Id="rId13" Target="../media/image35.png" Type="http://schemas.openxmlformats.org/officeDocument/2006/relationships/image"/><Relationship Id="rId2" Target="../media/image18.png" Type="http://schemas.openxmlformats.org/officeDocument/2006/relationships/image"/><Relationship Id="rId3" Target="../media/image19.svg" Type="http://schemas.openxmlformats.org/officeDocument/2006/relationships/image"/><Relationship Id="rId4" Target="../media/image2.png" Type="http://schemas.openxmlformats.org/officeDocument/2006/relationships/image"/><Relationship Id="rId5" Target="../media/image3.svg" Type="http://schemas.openxmlformats.org/officeDocument/2006/relationships/image"/><Relationship Id="rId6" Target="../media/image22.png" Type="http://schemas.openxmlformats.org/officeDocument/2006/relationships/image"/><Relationship Id="rId7" Target="../media/image23.svg" Type="http://schemas.openxmlformats.org/officeDocument/2006/relationships/image"/><Relationship Id="rId8" Target="../media/image30.png" Type="http://schemas.openxmlformats.org/officeDocument/2006/relationships/image"/><Relationship Id="rId9" Target="../media/image31.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6.png" Type="http://schemas.openxmlformats.org/officeDocument/2006/relationships/image"/><Relationship Id="rId11" Target="../media/image7.svg" Type="http://schemas.openxmlformats.org/officeDocument/2006/relationships/image"/><Relationship Id="rId12" Target="../media/image10.png" Type="http://schemas.openxmlformats.org/officeDocument/2006/relationships/image"/><Relationship Id="rId13" Target="../media/image11.svg" Type="http://schemas.openxmlformats.org/officeDocument/2006/relationships/image"/><Relationship Id="rId2" Target="../media/image18.png" Type="http://schemas.openxmlformats.org/officeDocument/2006/relationships/image"/><Relationship Id="rId3" Target="../media/image19.svg" Type="http://schemas.openxmlformats.org/officeDocument/2006/relationships/image"/><Relationship Id="rId4" Target="../media/image14.png" Type="http://schemas.openxmlformats.org/officeDocument/2006/relationships/image"/><Relationship Id="rId5" Target="../media/image15.svg" Type="http://schemas.openxmlformats.org/officeDocument/2006/relationships/image"/><Relationship Id="rId6" Target="../media/image36.png" Type="http://schemas.openxmlformats.org/officeDocument/2006/relationships/image"/><Relationship Id="rId7" Target="../media/image37.svg" Type="http://schemas.openxmlformats.org/officeDocument/2006/relationships/image"/><Relationship Id="rId8" Target="../media/image38.png" Type="http://schemas.openxmlformats.org/officeDocument/2006/relationships/image"/><Relationship Id="rId9" Target="../media/image39.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4.png" Type="http://schemas.openxmlformats.org/officeDocument/2006/relationships/image"/><Relationship Id="rId11" Target="../media/image45.svg" Type="http://schemas.openxmlformats.org/officeDocument/2006/relationships/image"/><Relationship Id="rId12" Target="../media/image46.png" Type="http://schemas.openxmlformats.org/officeDocument/2006/relationships/image"/><Relationship Id="rId13" Target="../media/image47.svg" Type="http://schemas.openxmlformats.org/officeDocument/2006/relationships/image"/><Relationship Id="rId2" Target="../media/image18.png" Type="http://schemas.openxmlformats.org/officeDocument/2006/relationships/image"/><Relationship Id="rId3" Target="../media/image19.svg" Type="http://schemas.openxmlformats.org/officeDocument/2006/relationships/image"/><Relationship Id="rId4" Target="../media/image2.png" Type="http://schemas.openxmlformats.org/officeDocument/2006/relationships/image"/><Relationship Id="rId5" Target="../media/image3.svg" Type="http://schemas.openxmlformats.org/officeDocument/2006/relationships/image"/><Relationship Id="rId6" Target="../media/image40.png" Type="http://schemas.openxmlformats.org/officeDocument/2006/relationships/image"/><Relationship Id="rId7" Target="../media/image41.svg" Type="http://schemas.openxmlformats.org/officeDocument/2006/relationships/image"/><Relationship Id="rId8" Target="../media/image42.png" Type="http://schemas.openxmlformats.org/officeDocument/2006/relationships/image"/><Relationship Id="rId9" Target="../media/image43.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svg" Type="http://schemas.openxmlformats.org/officeDocument/2006/relationships/image"/><Relationship Id="rId11" Target="../media/image8.png" Type="http://schemas.openxmlformats.org/officeDocument/2006/relationships/image"/><Relationship Id="rId12" Target="../media/image9.svg" Type="http://schemas.openxmlformats.org/officeDocument/2006/relationships/image"/><Relationship Id="rId13" Target="../media/image10.png" Type="http://schemas.openxmlformats.org/officeDocument/2006/relationships/image"/><Relationship Id="rId14" Target="../media/image11.svg" Type="http://schemas.openxmlformats.org/officeDocument/2006/relationships/image"/><Relationship Id="rId15" Target="../media/image12.png" Type="http://schemas.openxmlformats.org/officeDocument/2006/relationships/image"/><Relationship Id="rId16" Target="../media/image13.svg" Type="http://schemas.openxmlformats.org/officeDocument/2006/relationships/image"/><Relationship Id="rId17" Target="../media/image14.png" Type="http://schemas.openxmlformats.org/officeDocument/2006/relationships/image"/><Relationship Id="rId18" Target="../media/image15.svg" Type="http://schemas.openxmlformats.org/officeDocument/2006/relationships/image"/><Relationship Id="rId2" Target="../media/image18.png" Type="http://schemas.openxmlformats.org/officeDocument/2006/relationships/image"/><Relationship Id="rId3" Target="../media/image19.svg" Type="http://schemas.openxmlformats.org/officeDocument/2006/relationships/image"/><Relationship Id="rId4" Target="../media/image1.png" Type="http://schemas.openxmlformats.org/officeDocument/2006/relationships/image"/><Relationship Id="rId5" Target="../media/image2.png" Type="http://schemas.openxmlformats.org/officeDocument/2006/relationships/image"/><Relationship Id="rId6" Target="../media/image3.svg" Type="http://schemas.openxmlformats.org/officeDocument/2006/relationships/image"/><Relationship Id="rId7" Target="../media/image4.png" Type="http://schemas.openxmlformats.org/officeDocument/2006/relationships/image"/><Relationship Id="rId8" Target="../media/image5.svg" Type="http://schemas.openxmlformats.org/officeDocument/2006/relationships/image"/><Relationship Id="rId9" Target="../media/image6.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EBDBCC"/>
        </a:solidFill>
      </p:bgPr>
    </p:bg>
    <p:spTree>
      <p:nvGrpSpPr>
        <p:cNvPr id="1" name=""/>
        <p:cNvGrpSpPr/>
        <p:nvPr/>
      </p:nvGrpSpPr>
      <p:grpSpPr>
        <a:xfrm>
          <a:off x="0" y="0"/>
          <a:ext cx="0" cy="0"/>
          <a:chOff x="0" y="0"/>
          <a:chExt cx="0" cy="0"/>
        </a:xfrm>
      </p:grpSpPr>
      <p:sp>
        <p:nvSpPr>
          <p:cNvPr name="Freeform 2" id="2"/>
          <p:cNvSpPr/>
          <p:nvPr/>
        </p:nvSpPr>
        <p:spPr>
          <a:xfrm flipH="false" flipV="false" rot="0">
            <a:off x="10146562" y="1172893"/>
            <a:ext cx="4171653" cy="4515998"/>
          </a:xfrm>
          <a:custGeom>
            <a:avLst/>
            <a:gdLst/>
            <a:ahLst/>
            <a:cxnLst/>
            <a:rect r="r" b="b" t="t" l="l"/>
            <a:pathLst>
              <a:path h="4515998" w="4171653">
                <a:moveTo>
                  <a:pt x="0" y="0"/>
                </a:moveTo>
                <a:lnTo>
                  <a:pt x="4171653" y="0"/>
                </a:lnTo>
                <a:lnTo>
                  <a:pt x="4171653" y="4515998"/>
                </a:lnTo>
                <a:lnTo>
                  <a:pt x="0" y="4515998"/>
                </a:lnTo>
                <a:lnTo>
                  <a:pt x="0" y="0"/>
                </a:lnTo>
                <a:close/>
              </a:path>
            </a:pathLst>
          </a:custGeom>
          <a:blipFill>
            <a:blip r:embed="rId2"/>
            <a:stretch>
              <a:fillRect l="0" t="0" r="0" b="0"/>
            </a:stretch>
          </a:blipFill>
        </p:spPr>
      </p:sp>
      <p:sp>
        <p:nvSpPr>
          <p:cNvPr name="Freeform 3" id="3"/>
          <p:cNvSpPr/>
          <p:nvPr/>
        </p:nvSpPr>
        <p:spPr>
          <a:xfrm flipH="false" flipV="false" rot="0">
            <a:off x="-1447005" y="5544011"/>
            <a:ext cx="4951410" cy="1225474"/>
          </a:xfrm>
          <a:custGeom>
            <a:avLst/>
            <a:gdLst/>
            <a:ahLst/>
            <a:cxnLst/>
            <a:rect r="r" b="b" t="t" l="l"/>
            <a:pathLst>
              <a:path h="1225474" w="4951410">
                <a:moveTo>
                  <a:pt x="0" y="0"/>
                </a:moveTo>
                <a:lnTo>
                  <a:pt x="4951410" y="0"/>
                </a:lnTo>
                <a:lnTo>
                  <a:pt x="4951410" y="1225474"/>
                </a:lnTo>
                <a:lnTo>
                  <a:pt x="0" y="122547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699291" y="865771"/>
            <a:ext cx="445554" cy="502741"/>
          </a:xfrm>
          <a:custGeom>
            <a:avLst/>
            <a:gdLst/>
            <a:ahLst/>
            <a:cxnLst/>
            <a:rect r="r" b="b" t="t" l="l"/>
            <a:pathLst>
              <a:path h="502741" w="445554">
                <a:moveTo>
                  <a:pt x="0" y="0"/>
                </a:moveTo>
                <a:lnTo>
                  <a:pt x="445554" y="0"/>
                </a:lnTo>
                <a:lnTo>
                  <a:pt x="445554" y="502741"/>
                </a:lnTo>
                <a:lnTo>
                  <a:pt x="0" y="50274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0">
            <a:off x="16127965" y="-1470166"/>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6" id="6"/>
          <p:cNvSpPr/>
          <p:nvPr/>
        </p:nvSpPr>
        <p:spPr>
          <a:xfrm flipH="false" flipV="false" rot="0">
            <a:off x="1144845" y="3009270"/>
            <a:ext cx="1382074" cy="1382074"/>
          </a:xfrm>
          <a:custGeom>
            <a:avLst/>
            <a:gdLst/>
            <a:ahLst/>
            <a:cxnLst/>
            <a:rect r="r" b="b" t="t" l="l"/>
            <a:pathLst>
              <a:path h="1382074" w="1382074">
                <a:moveTo>
                  <a:pt x="0" y="0"/>
                </a:moveTo>
                <a:lnTo>
                  <a:pt x="1382074" y="0"/>
                </a:lnTo>
                <a:lnTo>
                  <a:pt x="1382074" y="1382074"/>
                </a:lnTo>
                <a:lnTo>
                  <a:pt x="0" y="1382074"/>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7" id="7"/>
          <p:cNvSpPr/>
          <p:nvPr/>
        </p:nvSpPr>
        <p:spPr>
          <a:xfrm flipH="false" flipV="false" rot="0">
            <a:off x="14637373" y="4391344"/>
            <a:ext cx="1297547" cy="1297547"/>
          </a:xfrm>
          <a:custGeom>
            <a:avLst/>
            <a:gdLst/>
            <a:ahLst/>
            <a:cxnLst/>
            <a:rect r="r" b="b" t="t" l="l"/>
            <a:pathLst>
              <a:path h="1297547" w="1297547">
                <a:moveTo>
                  <a:pt x="0" y="0"/>
                </a:moveTo>
                <a:lnTo>
                  <a:pt x="1297547" y="0"/>
                </a:lnTo>
                <a:lnTo>
                  <a:pt x="1297547" y="1297547"/>
                </a:lnTo>
                <a:lnTo>
                  <a:pt x="0" y="1297547"/>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8" id="8"/>
          <p:cNvSpPr/>
          <p:nvPr/>
        </p:nvSpPr>
        <p:spPr>
          <a:xfrm flipH="false" flipV="false" rot="0">
            <a:off x="16669309" y="8523293"/>
            <a:ext cx="1763707" cy="1763707"/>
          </a:xfrm>
          <a:custGeom>
            <a:avLst/>
            <a:gdLst/>
            <a:ahLst/>
            <a:cxnLst/>
            <a:rect r="r" b="b" t="t" l="l"/>
            <a:pathLst>
              <a:path h="1763707" w="1763707">
                <a:moveTo>
                  <a:pt x="0" y="0"/>
                </a:moveTo>
                <a:lnTo>
                  <a:pt x="1763706" y="0"/>
                </a:lnTo>
                <a:lnTo>
                  <a:pt x="1763706" y="1763707"/>
                </a:lnTo>
                <a:lnTo>
                  <a:pt x="0" y="1763707"/>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9" id="9"/>
          <p:cNvSpPr/>
          <p:nvPr/>
        </p:nvSpPr>
        <p:spPr>
          <a:xfrm flipH="false" flipV="false" rot="0">
            <a:off x="699291" y="8251795"/>
            <a:ext cx="1567457" cy="1567457"/>
          </a:xfrm>
          <a:custGeom>
            <a:avLst/>
            <a:gdLst/>
            <a:ahLst/>
            <a:cxnLst/>
            <a:rect r="r" b="b" t="t" l="l"/>
            <a:pathLst>
              <a:path h="1567457" w="1567457">
                <a:moveTo>
                  <a:pt x="0" y="0"/>
                </a:moveTo>
                <a:lnTo>
                  <a:pt x="1567457" y="0"/>
                </a:lnTo>
                <a:lnTo>
                  <a:pt x="1567457" y="1567456"/>
                </a:lnTo>
                <a:lnTo>
                  <a:pt x="0" y="1567456"/>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TextBox 10" id="10"/>
          <p:cNvSpPr txBox="true"/>
          <p:nvPr/>
        </p:nvSpPr>
        <p:spPr>
          <a:xfrm rot="-554870">
            <a:off x="2451531" y="1864122"/>
            <a:ext cx="8130369" cy="2842924"/>
          </a:xfrm>
          <a:prstGeom prst="rect">
            <a:avLst/>
          </a:prstGeom>
        </p:spPr>
        <p:txBody>
          <a:bodyPr anchor="t" rtlCol="false" tIns="0" lIns="0" bIns="0" rIns="0">
            <a:spAutoFit/>
          </a:bodyPr>
          <a:lstStyle/>
          <a:p>
            <a:pPr algn="ctr" marL="0" indent="0" lvl="0">
              <a:lnSpc>
                <a:spcPts val="16950"/>
              </a:lnSpc>
            </a:pPr>
            <a:r>
              <a:rPr lang="en-US" sz="14739">
                <a:solidFill>
                  <a:srgbClr val="BD3414"/>
                </a:solidFill>
                <a:latin typeface="Archivo Black"/>
                <a:ea typeface="Archivo Black"/>
                <a:cs typeface="Archivo Black"/>
                <a:sym typeface="Archivo Black"/>
              </a:rPr>
              <a:t>Tweets</a:t>
            </a:r>
          </a:p>
        </p:txBody>
      </p:sp>
      <p:sp>
        <p:nvSpPr>
          <p:cNvPr name="TextBox 11" id="11"/>
          <p:cNvSpPr txBox="true"/>
          <p:nvPr/>
        </p:nvSpPr>
        <p:spPr>
          <a:xfrm rot="204735">
            <a:off x="5320231" y="4140868"/>
            <a:ext cx="7644135" cy="2459047"/>
          </a:xfrm>
          <a:prstGeom prst="rect">
            <a:avLst/>
          </a:prstGeom>
        </p:spPr>
        <p:txBody>
          <a:bodyPr anchor="t" rtlCol="false" tIns="0" lIns="0" bIns="0" rIns="0">
            <a:spAutoFit/>
          </a:bodyPr>
          <a:lstStyle/>
          <a:p>
            <a:pPr algn="ctr" marL="0" indent="0" lvl="0">
              <a:lnSpc>
                <a:spcPts val="16950"/>
              </a:lnSpc>
            </a:pPr>
            <a:r>
              <a:rPr lang="en-US" sz="14739">
                <a:solidFill>
                  <a:srgbClr val="BD3414"/>
                </a:solidFill>
                <a:latin typeface="Archivo Black"/>
                <a:ea typeface="Archivo Black"/>
                <a:cs typeface="Archivo Black"/>
                <a:sym typeface="Archivo Black"/>
              </a:rPr>
              <a:t>Project</a:t>
            </a:r>
          </a:p>
        </p:txBody>
      </p:sp>
      <p:sp>
        <p:nvSpPr>
          <p:cNvPr name="TextBox 12" id="12"/>
          <p:cNvSpPr txBox="true"/>
          <p:nvPr/>
        </p:nvSpPr>
        <p:spPr>
          <a:xfrm rot="0">
            <a:off x="3385135" y="7090139"/>
            <a:ext cx="11901012" cy="2900599"/>
          </a:xfrm>
          <a:prstGeom prst="rect">
            <a:avLst/>
          </a:prstGeom>
        </p:spPr>
        <p:txBody>
          <a:bodyPr anchor="t" rtlCol="false" tIns="0" lIns="0" bIns="0" rIns="0">
            <a:spAutoFit/>
          </a:bodyPr>
          <a:lstStyle/>
          <a:p>
            <a:pPr algn="l">
              <a:lnSpc>
                <a:spcPts val="5394"/>
              </a:lnSpc>
            </a:pPr>
            <a:r>
              <a:rPr lang="en-US" b="true" sz="3853" spc="385">
                <a:solidFill>
                  <a:srgbClr val="B46B00"/>
                </a:solidFill>
                <a:latin typeface="Quicksand Bold"/>
                <a:ea typeface="Quicksand Bold"/>
                <a:cs typeface="Quicksand Bold"/>
                <a:sym typeface="Quicksand Bold"/>
              </a:rPr>
              <a:t>Group Members</a:t>
            </a:r>
          </a:p>
          <a:p>
            <a:pPr algn="l">
              <a:lnSpc>
                <a:spcPts val="4414"/>
              </a:lnSpc>
            </a:pPr>
            <a:r>
              <a:rPr lang="en-US" b="true" sz="3153" spc="315">
                <a:solidFill>
                  <a:srgbClr val="B46B00"/>
                </a:solidFill>
                <a:latin typeface="Quicksand Bold"/>
                <a:ea typeface="Quicksand Bold"/>
                <a:cs typeface="Quicksand Bold"/>
                <a:sym typeface="Quicksand Bold"/>
              </a:rPr>
              <a:t>Eddy Wiwatsu, David Clement, Grace Wangui, Christine Mutwiri, Salma Jediel and Charity Kilonzi</a:t>
            </a:r>
          </a:p>
          <a:p>
            <a:pPr algn="l">
              <a:lnSpc>
                <a:spcPts val="4554"/>
              </a:lnSpc>
            </a:pPr>
          </a:p>
          <a:p>
            <a:pPr algn="l" marL="0" indent="0" lvl="0">
              <a:lnSpc>
                <a:spcPts val="4554"/>
              </a:lnSpc>
            </a:pPr>
          </a:p>
        </p:txBody>
      </p:sp>
      <p:sp>
        <p:nvSpPr>
          <p:cNvPr name="TextBox 13" id="13"/>
          <p:cNvSpPr txBox="true"/>
          <p:nvPr/>
        </p:nvSpPr>
        <p:spPr>
          <a:xfrm rot="0">
            <a:off x="1290556" y="982321"/>
            <a:ext cx="3321072" cy="288691"/>
          </a:xfrm>
          <a:prstGeom prst="rect">
            <a:avLst/>
          </a:prstGeom>
        </p:spPr>
        <p:txBody>
          <a:bodyPr anchor="t" rtlCol="false" tIns="0" lIns="0" bIns="0" rIns="0">
            <a:spAutoFit/>
          </a:bodyPr>
          <a:lstStyle/>
          <a:p>
            <a:pPr algn="l">
              <a:lnSpc>
                <a:spcPts val="2331"/>
              </a:lnSpc>
              <a:spcBef>
                <a:spcPct val="0"/>
              </a:spcBef>
            </a:pPr>
            <a:r>
              <a:rPr lang="en-US" b="true" sz="2027" spc="405">
                <a:solidFill>
                  <a:srgbClr val="000000"/>
                </a:solidFill>
                <a:latin typeface="Quicksand Bold"/>
                <a:ea typeface="Quicksand Bold"/>
                <a:cs typeface="Quicksand Bold"/>
                <a:sym typeface="Quicksand Bold"/>
              </a:rPr>
              <a:t>PHASE 4 GROUP 1</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EBDBCC"/>
        </a:solidFill>
      </p:bgPr>
    </p:bg>
    <p:spTree>
      <p:nvGrpSpPr>
        <p:cNvPr id="1" name=""/>
        <p:cNvGrpSpPr/>
        <p:nvPr/>
      </p:nvGrpSpPr>
      <p:grpSpPr>
        <a:xfrm>
          <a:off x="0" y="0"/>
          <a:ext cx="0" cy="0"/>
          <a:chOff x="0" y="0"/>
          <a:chExt cx="0" cy="0"/>
        </a:xfrm>
      </p:grpSpPr>
      <p:sp>
        <p:nvSpPr>
          <p:cNvPr name="Freeform 2" id="2"/>
          <p:cNvSpPr/>
          <p:nvPr/>
        </p:nvSpPr>
        <p:spPr>
          <a:xfrm flipH="false" flipV="false" rot="0">
            <a:off x="1654719" y="2947158"/>
            <a:ext cx="5454937" cy="4745796"/>
          </a:xfrm>
          <a:custGeom>
            <a:avLst/>
            <a:gdLst/>
            <a:ahLst/>
            <a:cxnLst/>
            <a:rect r="r" b="b" t="t" l="l"/>
            <a:pathLst>
              <a:path h="4745796" w="5454937">
                <a:moveTo>
                  <a:pt x="0" y="0"/>
                </a:moveTo>
                <a:lnTo>
                  <a:pt x="5454937" y="0"/>
                </a:lnTo>
                <a:lnTo>
                  <a:pt x="5454937" y="4745796"/>
                </a:lnTo>
                <a:lnTo>
                  <a:pt x="0" y="4745796"/>
                </a:lnTo>
                <a:lnTo>
                  <a:pt x="0" y="0"/>
                </a:lnTo>
                <a:close/>
              </a:path>
            </a:pathLst>
          </a:custGeom>
          <a:blipFill>
            <a:blip r:embed="rId2"/>
            <a:stretch>
              <a:fillRect l="0" t="0" r="0" b="0"/>
            </a:stretch>
          </a:blipFill>
        </p:spPr>
      </p:sp>
      <p:sp>
        <p:nvSpPr>
          <p:cNvPr name="TextBox 3" id="3"/>
          <p:cNvSpPr txBox="true"/>
          <p:nvPr/>
        </p:nvSpPr>
        <p:spPr>
          <a:xfrm rot="-615653">
            <a:off x="351310" y="1352882"/>
            <a:ext cx="5997112" cy="1908678"/>
          </a:xfrm>
          <a:prstGeom prst="rect">
            <a:avLst/>
          </a:prstGeom>
        </p:spPr>
        <p:txBody>
          <a:bodyPr anchor="t" rtlCol="false" tIns="0" lIns="0" bIns="0" rIns="0">
            <a:spAutoFit/>
          </a:bodyPr>
          <a:lstStyle/>
          <a:p>
            <a:pPr algn="ctr" marL="0" indent="0" lvl="0">
              <a:lnSpc>
                <a:spcPts val="11532"/>
              </a:lnSpc>
            </a:pPr>
            <a:r>
              <a:rPr lang="en-US" sz="10028">
                <a:solidFill>
                  <a:srgbClr val="BD3414"/>
                </a:solidFill>
                <a:latin typeface="Archivo Black"/>
                <a:ea typeface="Archivo Black"/>
                <a:cs typeface="Archivo Black"/>
                <a:sym typeface="Archivo Black"/>
              </a:rPr>
              <a:t>Table of</a:t>
            </a:r>
          </a:p>
        </p:txBody>
      </p:sp>
      <p:sp>
        <p:nvSpPr>
          <p:cNvPr name="TextBox 4" id="4"/>
          <p:cNvSpPr txBox="true"/>
          <p:nvPr/>
        </p:nvSpPr>
        <p:spPr>
          <a:xfrm rot="-255272">
            <a:off x="1717682" y="7437309"/>
            <a:ext cx="5797757" cy="1817509"/>
          </a:xfrm>
          <a:prstGeom prst="rect">
            <a:avLst/>
          </a:prstGeom>
        </p:spPr>
        <p:txBody>
          <a:bodyPr anchor="t" rtlCol="false" tIns="0" lIns="0" bIns="0" rIns="0">
            <a:spAutoFit/>
          </a:bodyPr>
          <a:lstStyle/>
          <a:p>
            <a:pPr algn="ctr" marL="0" indent="0" lvl="0">
              <a:lnSpc>
                <a:spcPts val="11532"/>
              </a:lnSpc>
            </a:pPr>
            <a:r>
              <a:rPr lang="en-US" sz="10028">
                <a:solidFill>
                  <a:srgbClr val="BD3414"/>
                </a:solidFill>
                <a:latin typeface="Archivo Black"/>
                <a:ea typeface="Archivo Black"/>
                <a:cs typeface="Archivo Black"/>
                <a:sym typeface="Archivo Black"/>
              </a:rPr>
              <a:t>Content</a:t>
            </a:r>
          </a:p>
        </p:txBody>
      </p:sp>
      <p:sp>
        <p:nvSpPr>
          <p:cNvPr name="TextBox 5" id="5"/>
          <p:cNvSpPr txBox="true"/>
          <p:nvPr/>
        </p:nvSpPr>
        <p:spPr>
          <a:xfrm rot="0">
            <a:off x="8064765" y="2052038"/>
            <a:ext cx="885381" cy="636912"/>
          </a:xfrm>
          <a:prstGeom prst="rect">
            <a:avLst/>
          </a:prstGeom>
        </p:spPr>
        <p:txBody>
          <a:bodyPr anchor="t" rtlCol="false" tIns="0" lIns="0" bIns="0" rIns="0">
            <a:spAutoFit/>
          </a:bodyPr>
          <a:lstStyle/>
          <a:p>
            <a:pPr algn="r">
              <a:lnSpc>
                <a:spcPts val="4833"/>
              </a:lnSpc>
              <a:spcBef>
                <a:spcPct val="0"/>
              </a:spcBef>
            </a:pPr>
            <a:r>
              <a:rPr lang="en-US" sz="4202">
                <a:solidFill>
                  <a:srgbClr val="BD3414"/>
                </a:solidFill>
                <a:latin typeface="Archivo Black"/>
                <a:ea typeface="Archivo Black"/>
                <a:cs typeface="Archivo Black"/>
                <a:sym typeface="Archivo Black"/>
              </a:rPr>
              <a:t>01</a:t>
            </a:r>
          </a:p>
        </p:txBody>
      </p:sp>
      <p:sp>
        <p:nvSpPr>
          <p:cNvPr name="TextBox 6" id="6"/>
          <p:cNvSpPr txBox="true"/>
          <p:nvPr/>
        </p:nvSpPr>
        <p:spPr>
          <a:xfrm rot="0">
            <a:off x="8064765" y="3438541"/>
            <a:ext cx="885381" cy="636912"/>
          </a:xfrm>
          <a:prstGeom prst="rect">
            <a:avLst/>
          </a:prstGeom>
        </p:spPr>
        <p:txBody>
          <a:bodyPr anchor="t" rtlCol="false" tIns="0" lIns="0" bIns="0" rIns="0">
            <a:spAutoFit/>
          </a:bodyPr>
          <a:lstStyle/>
          <a:p>
            <a:pPr algn="r">
              <a:lnSpc>
                <a:spcPts val="4833"/>
              </a:lnSpc>
              <a:spcBef>
                <a:spcPct val="0"/>
              </a:spcBef>
            </a:pPr>
            <a:r>
              <a:rPr lang="en-US" sz="4202">
                <a:solidFill>
                  <a:srgbClr val="BD3414"/>
                </a:solidFill>
                <a:latin typeface="Archivo Black"/>
                <a:ea typeface="Archivo Black"/>
                <a:cs typeface="Archivo Black"/>
                <a:sym typeface="Archivo Black"/>
              </a:rPr>
              <a:t>02</a:t>
            </a:r>
          </a:p>
        </p:txBody>
      </p:sp>
      <p:sp>
        <p:nvSpPr>
          <p:cNvPr name="TextBox 7" id="7"/>
          <p:cNvSpPr txBox="true"/>
          <p:nvPr/>
        </p:nvSpPr>
        <p:spPr>
          <a:xfrm rot="0">
            <a:off x="13102236" y="2052038"/>
            <a:ext cx="885381" cy="636912"/>
          </a:xfrm>
          <a:prstGeom prst="rect">
            <a:avLst/>
          </a:prstGeom>
        </p:spPr>
        <p:txBody>
          <a:bodyPr anchor="t" rtlCol="false" tIns="0" lIns="0" bIns="0" rIns="0">
            <a:spAutoFit/>
          </a:bodyPr>
          <a:lstStyle/>
          <a:p>
            <a:pPr algn="r">
              <a:lnSpc>
                <a:spcPts val="4833"/>
              </a:lnSpc>
              <a:spcBef>
                <a:spcPct val="0"/>
              </a:spcBef>
            </a:pPr>
            <a:r>
              <a:rPr lang="en-US" sz="4202">
                <a:solidFill>
                  <a:srgbClr val="BD3414"/>
                </a:solidFill>
                <a:latin typeface="Archivo Black"/>
                <a:ea typeface="Archivo Black"/>
                <a:cs typeface="Archivo Black"/>
                <a:sym typeface="Archivo Black"/>
              </a:rPr>
              <a:t>05</a:t>
            </a:r>
          </a:p>
        </p:txBody>
      </p:sp>
      <p:sp>
        <p:nvSpPr>
          <p:cNvPr name="TextBox 8" id="8"/>
          <p:cNvSpPr txBox="true"/>
          <p:nvPr/>
        </p:nvSpPr>
        <p:spPr>
          <a:xfrm rot="0">
            <a:off x="13102236" y="3438541"/>
            <a:ext cx="885381" cy="636912"/>
          </a:xfrm>
          <a:prstGeom prst="rect">
            <a:avLst/>
          </a:prstGeom>
        </p:spPr>
        <p:txBody>
          <a:bodyPr anchor="t" rtlCol="false" tIns="0" lIns="0" bIns="0" rIns="0">
            <a:spAutoFit/>
          </a:bodyPr>
          <a:lstStyle/>
          <a:p>
            <a:pPr algn="r">
              <a:lnSpc>
                <a:spcPts val="4833"/>
              </a:lnSpc>
              <a:spcBef>
                <a:spcPct val="0"/>
              </a:spcBef>
            </a:pPr>
            <a:r>
              <a:rPr lang="en-US" sz="4202">
                <a:solidFill>
                  <a:srgbClr val="BD3414"/>
                </a:solidFill>
                <a:latin typeface="Archivo Black"/>
                <a:ea typeface="Archivo Black"/>
                <a:cs typeface="Archivo Black"/>
                <a:sym typeface="Archivo Black"/>
              </a:rPr>
              <a:t>06</a:t>
            </a:r>
          </a:p>
        </p:txBody>
      </p:sp>
      <p:sp>
        <p:nvSpPr>
          <p:cNvPr name="TextBox 9" id="9"/>
          <p:cNvSpPr txBox="true"/>
          <p:nvPr/>
        </p:nvSpPr>
        <p:spPr>
          <a:xfrm rot="0">
            <a:off x="9183189" y="2146324"/>
            <a:ext cx="3429151" cy="812759"/>
          </a:xfrm>
          <a:prstGeom prst="rect">
            <a:avLst/>
          </a:prstGeom>
        </p:spPr>
        <p:txBody>
          <a:bodyPr anchor="t" rtlCol="false" tIns="0" lIns="0" bIns="0" rIns="0">
            <a:spAutoFit/>
          </a:bodyPr>
          <a:lstStyle/>
          <a:p>
            <a:pPr algn="l" marL="0" indent="0" lvl="0">
              <a:lnSpc>
                <a:spcPts val="3249"/>
              </a:lnSpc>
            </a:pPr>
            <a:r>
              <a:rPr lang="en-US" b="true" sz="2320" spc="232">
                <a:solidFill>
                  <a:srgbClr val="B46B00"/>
                </a:solidFill>
                <a:latin typeface="Quicksand Bold"/>
                <a:ea typeface="Quicksand Bold"/>
                <a:cs typeface="Quicksand Bold"/>
                <a:sym typeface="Quicksand Bold"/>
              </a:rPr>
              <a:t>Business Understanding</a:t>
            </a:r>
          </a:p>
        </p:txBody>
      </p:sp>
      <p:sp>
        <p:nvSpPr>
          <p:cNvPr name="TextBox 10" id="10"/>
          <p:cNvSpPr txBox="true"/>
          <p:nvPr/>
        </p:nvSpPr>
        <p:spPr>
          <a:xfrm rot="0">
            <a:off x="9183189" y="3532827"/>
            <a:ext cx="3429151" cy="400716"/>
          </a:xfrm>
          <a:prstGeom prst="rect">
            <a:avLst/>
          </a:prstGeom>
        </p:spPr>
        <p:txBody>
          <a:bodyPr anchor="t" rtlCol="false" tIns="0" lIns="0" bIns="0" rIns="0">
            <a:spAutoFit/>
          </a:bodyPr>
          <a:lstStyle/>
          <a:p>
            <a:pPr algn="l" marL="0" indent="0" lvl="0">
              <a:lnSpc>
                <a:spcPts val="3249"/>
              </a:lnSpc>
            </a:pPr>
            <a:r>
              <a:rPr lang="en-US" b="true" sz="2320" spc="232">
                <a:solidFill>
                  <a:srgbClr val="B46B00"/>
                </a:solidFill>
                <a:latin typeface="Quicksand Bold"/>
                <a:ea typeface="Quicksand Bold"/>
                <a:cs typeface="Quicksand Bold"/>
                <a:sym typeface="Quicksand Bold"/>
              </a:rPr>
              <a:t>Problem Statement</a:t>
            </a:r>
          </a:p>
        </p:txBody>
      </p:sp>
      <p:sp>
        <p:nvSpPr>
          <p:cNvPr name="TextBox 11" id="11"/>
          <p:cNvSpPr txBox="true"/>
          <p:nvPr/>
        </p:nvSpPr>
        <p:spPr>
          <a:xfrm rot="0">
            <a:off x="14220660" y="2146324"/>
            <a:ext cx="3429151" cy="400716"/>
          </a:xfrm>
          <a:prstGeom prst="rect">
            <a:avLst/>
          </a:prstGeom>
        </p:spPr>
        <p:txBody>
          <a:bodyPr anchor="t" rtlCol="false" tIns="0" lIns="0" bIns="0" rIns="0">
            <a:spAutoFit/>
          </a:bodyPr>
          <a:lstStyle/>
          <a:p>
            <a:pPr algn="l" marL="0" indent="0" lvl="0">
              <a:lnSpc>
                <a:spcPts val="3249"/>
              </a:lnSpc>
            </a:pPr>
            <a:r>
              <a:rPr lang="en-US" b="true" sz="2320" spc="232">
                <a:solidFill>
                  <a:srgbClr val="B46B00"/>
                </a:solidFill>
                <a:latin typeface="Quicksand Bold"/>
                <a:ea typeface="Quicksand Bold"/>
                <a:cs typeface="Quicksand Bold"/>
                <a:sym typeface="Quicksand Bold"/>
              </a:rPr>
              <a:t>Evaluation</a:t>
            </a:r>
          </a:p>
        </p:txBody>
      </p:sp>
      <p:sp>
        <p:nvSpPr>
          <p:cNvPr name="TextBox 12" id="12"/>
          <p:cNvSpPr txBox="true"/>
          <p:nvPr/>
        </p:nvSpPr>
        <p:spPr>
          <a:xfrm rot="0">
            <a:off x="14220660" y="3532827"/>
            <a:ext cx="3429151" cy="400716"/>
          </a:xfrm>
          <a:prstGeom prst="rect">
            <a:avLst/>
          </a:prstGeom>
        </p:spPr>
        <p:txBody>
          <a:bodyPr anchor="t" rtlCol="false" tIns="0" lIns="0" bIns="0" rIns="0">
            <a:spAutoFit/>
          </a:bodyPr>
          <a:lstStyle/>
          <a:p>
            <a:pPr algn="l" marL="0" indent="0" lvl="0">
              <a:lnSpc>
                <a:spcPts val="3249"/>
              </a:lnSpc>
            </a:pPr>
            <a:r>
              <a:rPr lang="en-US" b="true" sz="2320" spc="232">
                <a:solidFill>
                  <a:srgbClr val="B46B00"/>
                </a:solidFill>
                <a:latin typeface="Quicksand Bold"/>
                <a:ea typeface="Quicksand Bold"/>
                <a:cs typeface="Quicksand Bold"/>
                <a:sym typeface="Quicksand Bold"/>
              </a:rPr>
              <a:t>Recommendation</a:t>
            </a:r>
          </a:p>
        </p:txBody>
      </p:sp>
      <p:sp>
        <p:nvSpPr>
          <p:cNvPr name="TextBox 13" id="13"/>
          <p:cNvSpPr txBox="true"/>
          <p:nvPr/>
        </p:nvSpPr>
        <p:spPr>
          <a:xfrm rot="0">
            <a:off x="8064765" y="4825044"/>
            <a:ext cx="885381" cy="636912"/>
          </a:xfrm>
          <a:prstGeom prst="rect">
            <a:avLst/>
          </a:prstGeom>
        </p:spPr>
        <p:txBody>
          <a:bodyPr anchor="t" rtlCol="false" tIns="0" lIns="0" bIns="0" rIns="0">
            <a:spAutoFit/>
          </a:bodyPr>
          <a:lstStyle/>
          <a:p>
            <a:pPr algn="r">
              <a:lnSpc>
                <a:spcPts val="4833"/>
              </a:lnSpc>
              <a:spcBef>
                <a:spcPct val="0"/>
              </a:spcBef>
            </a:pPr>
            <a:r>
              <a:rPr lang="en-US" sz="4202">
                <a:solidFill>
                  <a:srgbClr val="BD3414"/>
                </a:solidFill>
                <a:latin typeface="Archivo Black"/>
                <a:ea typeface="Archivo Black"/>
                <a:cs typeface="Archivo Black"/>
                <a:sym typeface="Archivo Black"/>
              </a:rPr>
              <a:t>03</a:t>
            </a:r>
          </a:p>
        </p:txBody>
      </p:sp>
      <p:sp>
        <p:nvSpPr>
          <p:cNvPr name="TextBox 14" id="14"/>
          <p:cNvSpPr txBox="true"/>
          <p:nvPr/>
        </p:nvSpPr>
        <p:spPr>
          <a:xfrm rot="0">
            <a:off x="13102236" y="4825044"/>
            <a:ext cx="885381" cy="636912"/>
          </a:xfrm>
          <a:prstGeom prst="rect">
            <a:avLst/>
          </a:prstGeom>
        </p:spPr>
        <p:txBody>
          <a:bodyPr anchor="t" rtlCol="false" tIns="0" lIns="0" bIns="0" rIns="0">
            <a:spAutoFit/>
          </a:bodyPr>
          <a:lstStyle/>
          <a:p>
            <a:pPr algn="r">
              <a:lnSpc>
                <a:spcPts val="4833"/>
              </a:lnSpc>
              <a:spcBef>
                <a:spcPct val="0"/>
              </a:spcBef>
            </a:pPr>
            <a:r>
              <a:rPr lang="en-US" sz="4202">
                <a:solidFill>
                  <a:srgbClr val="BD3414"/>
                </a:solidFill>
                <a:latin typeface="Archivo Black"/>
                <a:ea typeface="Archivo Black"/>
                <a:cs typeface="Archivo Black"/>
                <a:sym typeface="Archivo Black"/>
              </a:rPr>
              <a:t>07</a:t>
            </a:r>
          </a:p>
        </p:txBody>
      </p:sp>
      <p:sp>
        <p:nvSpPr>
          <p:cNvPr name="TextBox 15" id="15"/>
          <p:cNvSpPr txBox="true"/>
          <p:nvPr/>
        </p:nvSpPr>
        <p:spPr>
          <a:xfrm rot="0">
            <a:off x="9183189" y="4919330"/>
            <a:ext cx="3429151" cy="400716"/>
          </a:xfrm>
          <a:prstGeom prst="rect">
            <a:avLst/>
          </a:prstGeom>
        </p:spPr>
        <p:txBody>
          <a:bodyPr anchor="t" rtlCol="false" tIns="0" lIns="0" bIns="0" rIns="0">
            <a:spAutoFit/>
          </a:bodyPr>
          <a:lstStyle/>
          <a:p>
            <a:pPr algn="l" marL="0" indent="0" lvl="0">
              <a:lnSpc>
                <a:spcPts val="3249"/>
              </a:lnSpc>
            </a:pPr>
            <a:r>
              <a:rPr lang="en-US" b="true" sz="2320" spc="232">
                <a:solidFill>
                  <a:srgbClr val="B46B00"/>
                </a:solidFill>
                <a:latin typeface="Quicksand Bold"/>
                <a:ea typeface="Quicksand Bold"/>
                <a:cs typeface="Quicksand Bold"/>
                <a:sym typeface="Quicksand Bold"/>
              </a:rPr>
              <a:t>Stakeholders</a:t>
            </a:r>
          </a:p>
        </p:txBody>
      </p:sp>
      <p:sp>
        <p:nvSpPr>
          <p:cNvPr name="TextBox 16" id="16"/>
          <p:cNvSpPr txBox="true"/>
          <p:nvPr/>
        </p:nvSpPr>
        <p:spPr>
          <a:xfrm rot="0">
            <a:off x="14220660" y="4919330"/>
            <a:ext cx="3429151" cy="400716"/>
          </a:xfrm>
          <a:prstGeom prst="rect">
            <a:avLst/>
          </a:prstGeom>
        </p:spPr>
        <p:txBody>
          <a:bodyPr anchor="t" rtlCol="false" tIns="0" lIns="0" bIns="0" rIns="0">
            <a:spAutoFit/>
          </a:bodyPr>
          <a:lstStyle/>
          <a:p>
            <a:pPr algn="l" marL="0" indent="0" lvl="0">
              <a:lnSpc>
                <a:spcPts val="3249"/>
              </a:lnSpc>
            </a:pPr>
            <a:r>
              <a:rPr lang="en-US" b="true" sz="2320" spc="232">
                <a:solidFill>
                  <a:srgbClr val="B46B00"/>
                </a:solidFill>
                <a:latin typeface="Quicksand Bold"/>
                <a:ea typeface="Quicksand Bold"/>
                <a:cs typeface="Quicksand Bold"/>
                <a:sym typeface="Quicksand Bold"/>
              </a:rPr>
              <a:t>Thank You</a:t>
            </a:r>
          </a:p>
        </p:txBody>
      </p:sp>
      <p:sp>
        <p:nvSpPr>
          <p:cNvPr name="TextBox 17" id="17"/>
          <p:cNvSpPr txBox="true"/>
          <p:nvPr/>
        </p:nvSpPr>
        <p:spPr>
          <a:xfrm rot="0">
            <a:off x="8064765" y="6211547"/>
            <a:ext cx="885381" cy="636912"/>
          </a:xfrm>
          <a:prstGeom prst="rect">
            <a:avLst/>
          </a:prstGeom>
        </p:spPr>
        <p:txBody>
          <a:bodyPr anchor="t" rtlCol="false" tIns="0" lIns="0" bIns="0" rIns="0">
            <a:spAutoFit/>
          </a:bodyPr>
          <a:lstStyle/>
          <a:p>
            <a:pPr algn="r">
              <a:lnSpc>
                <a:spcPts val="4833"/>
              </a:lnSpc>
              <a:spcBef>
                <a:spcPct val="0"/>
              </a:spcBef>
            </a:pPr>
            <a:r>
              <a:rPr lang="en-US" sz="4202">
                <a:solidFill>
                  <a:srgbClr val="BD3414"/>
                </a:solidFill>
                <a:latin typeface="Archivo Black"/>
                <a:ea typeface="Archivo Black"/>
                <a:cs typeface="Archivo Black"/>
                <a:sym typeface="Archivo Black"/>
              </a:rPr>
              <a:t>04</a:t>
            </a:r>
          </a:p>
        </p:txBody>
      </p:sp>
      <p:sp>
        <p:nvSpPr>
          <p:cNvPr name="TextBox 18" id="18"/>
          <p:cNvSpPr txBox="true"/>
          <p:nvPr/>
        </p:nvSpPr>
        <p:spPr>
          <a:xfrm rot="0">
            <a:off x="9183189" y="6305833"/>
            <a:ext cx="3429151" cy="400716"/>
          </a:xfrm>
          <a:prstGeom prst="rect">
            <a:avLst/>
          </a:prstGeom>
        </p:spPr>
        <p:txBody>
          <a:bodyPr anchor="t" rtlCol="false" tIns="0" lIns="0" bIns="0" rIns="0">
            <a:spAutoFit/>
          </a:bodyPr>
          <a:lstStyle/>
          <a:p>
            <a:pPr algn="l" marL="0" indent="0" lvl="0">
              <a:lnSpc>
                <a:spcPts val="3249"/>
              </a:lnSpc>
            </a:pPr>
            <a:r>
              <a:rPr lang="en-US" b="true" sz="2320" spc="232">
                <a:solidFill>
                  <a:srgbClr val="B46B00"/>
                </a:solidFill>
                <a:latin typeface="Quicksand Bold"/>
                <a:ea typeface="Quicksand Bold"/>
                <a:cs typeface="Quicksand Bold"/>
                <a:sym typeface="Quicksand Bold"/>
              </a:rPr>
              <a:t>Modeling</a:t>
            </a:r>
          </a:p>
        </p:txBody>
      </p:sp>
      <p:sp>
        <p:nvSpPr>
          <p:cNvPr name="Freeform 19" id="19"/>
          <p:cNvSpPr/>
          <p:nvPr/>
        </p:nvSpPr>
        <p:spPr>
          <a:xfrm flipH="false" flipV="false" rot="0">
            <a:off x="13737474" y="9263662"/>
            <a:ext cx="445554" cy="502741"/>
          </a:xfrm>
          <a:custGeom>
            <a:avLst/>
            <a:gdLst/>
            <a:ahLst/>
            <a:cxnLst/>
            <a:rect r="r" b="b" t="t" l="l"/>
            <a:pathLst>
              <a:path h="502741" w="445554">
                <a:moveTo>
                  <a:pt x="0" y="0"/>
                </a:moveTo>
                <a:lnTo>
                  <a:pt x="445554" y="0"/>
                </a:lnTo>
                <a:lnTo>
                  <a:pt x="445554" y="502741"/>
                </a:lnTo>
                <a:lnTo>
                  <a:pt x="0" y="50274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20" id="20"/>
          <p:cNvSpPr txBox="true"/>
          <p:nvPr/>
        </p:nvSpPr>
        <p:spPr>
          <a:xfrm rot="0">
            <a:off x="14328739" y="9380212"/>
            <a:ext cx="3321072" cy="288691"/>
          </a:xfrm>
          <a:prstGeom prst="rect">
            <a:avLst/>
          </a:prstGeom>
        </p:spPr>
        <p:txBody>
          <a:bodyPr anchor="t" rtlCol="false" tIns="0" lIns="0" bIns="0" rIns="0">
            <a:spAutoFit/>
          </a:bodyPr>
          <a:lstStyle/>
          <a:p>
            <a:pPr algn="l">
              <a:lnSpc>
                <a:spcPts val="2331"/>
              </a:lnSpc>
              <a:spcBef>
                <a:spcPct val="0"/>
              </a:spcBef>
            </a:pPr>
            <a:r>
              <a:rPr lang="en-US" b="true" sz="2027" spc="405">
                <a:solidFill>
                  <a:srgbClr val="000000"/>
                </a:solidFill>
                <a:latin typeface="Quicksand Bold"/>
                <a:ea typeface="Quicksand Bold"/>
                <a:cs typeface="Quicksand Bold"/>
                <a:sym typeface="Quicksand Bold"/>
              </a:rPr>
              <a:t>PHASE 4 GROUP 1</a:t>
            </a:r>
          </a:p>
        </p:txBody>
      </p:sp>
      <p:sp>
        <p:nvSpPr>
          <p:cNvPr name="Freeform 21" id="21"/>
          <p:cNvSpPr/>
          <p:nvPr/>
        </p:nvSpPr>
        <p:spPr>
          <a:xfrm flipH="false" flipV="false" rot="0">
            <a:off x="-1776414" y="415963"/>
            <a:ext cx="2805114" cy="694266"/>
          </a:xfrm>
          <a:custGeom>
            <a:avLst/>
            <a:gdLst/>
            <a:ahLst/>
            <a:cxnLst/>
            <a:rect r="r" b="b" t="t" l="l"/>
            <a:pathLst>
              <a:path h="694266" w="2805114">
                <a:moveTo>
                  <a:pt x="0" y="0"/>
                </a:moveTo>
                <a:lnTo>
                  <a:pt x="2805114" y="0"/>
                </a:lnTo>
                <a:lnTo>
                  <a:pt x="2805114" y="694266"/>
                </a:lnTo>
                <a:lnTo>
                  <a:pt x="0" y="69426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22" id="22"/>
          <p:cNvSpPr/>
          <p:nvPr/>
        </p:nvSpPr>
        <p:spPr>
          <a:xfrm flipH="false" flipV="false" rot="0">
            <a:off x="357172" y="5704684"/>
            <a:ext cx="1297547" cy="1297547"/>
          </a:xfrm>
          <a:custGeom>
            <a:avLst/>
            <a:gdLst/>
            <a:ahLst/>
            <a:cxnLst/>
            <a:rect r="r" b="b" t="t" l="l"/>
            <a:pathLst>
              <a:path h="1297547" w="1297547">
                <a:moveTo>
                  <a:pt x="0" y="0"/>
                </a:moveTo>
                <a:lnTo>
                  <a:pt x="1297547" y="0"/>
                </a:lnTo>
                <a:lnTo>
                  <a:pt x="1297547" y="1297547"/>
                </a:lnTo>
                <a:lnTo>
                  <a:pt x="0" y="1297547"/>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23" id="23"/>
          <p:cNvSpPr/>
          <p:nvPr/>
        </p:nvSpPr>
        <p:spPr>
          <a:xfrm flipH="false" flipV="false" rot="0">
            <a:off x="16986003" y="415963"/>
            <a:ext cx="1057026" cy="1057026"/>
          </a:xfrm>
          <a:custGeom>
            <a:avLst/>
            <a:gdLst/>
            <a:ahLst/>
            <a:cxnLst/>
            <a:rect r="r" b="b" t="t" l="l"/>
            <a:pathLst>
              <a:path h="1057026" w="1057026">
                <a:moveTo>
                  <a:pt x="0" y="0"/>
                </a:moveTo>
                <a:lnTo>
                  <a:pt x="1057025" y="0"/>
                </a:lnTo>
                <a:lnTo>
                  <a:pt x="1057025" y="1057026"/>
                </a:lnTo>
                <a:lnTo>
                  <a:pt x="0" y="1057026"/>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EBDBCC"/>
        </a:solidFill>
      </p:bgPr>
    </p:bg>
    <p:spTree>
      <p:nvGrpSpPr>
        <p:cNvPr id="1" name=""/>
        <p:cNvGrpSpPr/>
        <p:nvPr/>
      </p:nvGrpSpPr>
      <p:grpSpPr>
        <a:xfrm>
          <a:off x="0" y="0"/>
          <a:ext cx="0" cy="0"/>
          <a:chOff x="0" y="0"/>
          <a:chExt cx="0" cy="0"/>
        </a:xfrm>
      </p:grpSpPr>
      <p:grpSp>
        <p:nvGrpSpPr>
          <p:cNvPr name="Group 2" id="2"/>
          <p:cNvGrpSpPr/>
          <p:nvPr/>
        </p:nvGrpSpPr>
        <p:grpSpPr>
          <a:xfrm rot="0">
            <a:off x="-419392" y="7506175"/>
            <a:ext cx="5913104" cy="3086100"/>
            <a:chOff x="0" y="0"/>
            <a:chExt cx="1557361" cy="812800"/>
          </a:xfrm>
        </p:grpSpPr>
        <p:sp>
          <p:nvSpPr>
            <p:cNvPr name="Freeform 3" id="3"/>
            <p:cNvSpPr/>
            <p:nvPr/>
          </p:nvSpPr>
          <p:spPr>
            <a:xfrm flipH="false" flipV="false" rot="0">
              <a:off x="0" y="0"/>
              <a:ext cx="1557361" cy="812800"/>
            </a:xfrm>
            <a:custGeom>
              <a:avLst/>
              <a:gdLst/>
              <a:ahLst/>
              <a:cxnLst/>
              <a:rect r="r" b="b" t="t" l="l"/>
              <a:pathLst>
                <a:path h="812800" w="1557361">
                  <a:moveTo>
                    <a:pt x="0" y="0"/>
                  </a:moveTo>
                  <a:lnTo>
                    <a:pt x="1557361" y="0"/>
                  </a:lnTo>
                  <a:lnTo>
                    <a:pt x="1557361" y="812800"/>
                  </a:lnTo>
                  <a:lnTo>
                    <a:pt x="0" y="812800"/>
                  </a:lnTo>
                  <a:close/>
                </a:path>
              </a:pathLst>
            </a:custGeom>
            <a:solidFill>
              <a:srgbClr val="BD3414"/>
            </a:solidFill>
          </p:spPr>
        </p:sp>
        <p:sp>
          <p:nvSpPr>
            <p:cNvPr name="TextBox 4" id="4"/>
            <p:cNvSpPr txBox="true"/>
            <p:nvPr/>
          </p:nvSpPr>
          <p:spPr>
            <a:xfrm>
              <a:off x="0" y="-57150"/>
              <a:ext cx="1557361" cy="869950"/>
            </a:xfrm>
            <a:prstGeom prst="rect">
              <a:avLst/>
            </a:prstGeom>
          </p:spPr>
          <p:txBody>
            <a:bodyPr anchor="ctr" rtlCol="false" tIns="50800" lIns="50800" bIns="50800" rIns="50800"/>
            <a:lstStyle/>
            <a:p>
              <a:pPr algn="ctr">
                <a:lnSpc>
                  <a:spcPts val="2939"/>
                </a:lnSpc>
              </a:pPr>
            </a:p>
          </p:txBody>
        </p:sp>
      </p:grpSp>
      <p:grpSp>
        <p:nvGrpSpPr>
          <p:cNvPr name="Group 5" id="5"/>
          <p:cNvGrpSpPr/>
          <p:nvPr/>
        </p:nvGrpSpPr>
        <p:grpSpPr>
          <a:xfrm rot="0">
            <a:off x="1028700" y="2676956"/>
            <a:ext cx="5246370" cy="6581344"/>
            <a:chOff x="0" y="0"/>
            <a:chExt cx="812800" cy="1019622"/>
          </a:xfrm>
        </p:grpSpPr>
        <p:sp>
          <p:nvSpPr>
            <p:cNvPr name="Freeform 6" id="6"/>
            <p:cNvSpPr/>
            <p:nvPr/>
          </p:nvSpPr>
          <p:spPr>
            <a:xfrm flipH="false" flipV="false" rot="0">
              <a:off x="0" y="0"/>
              <a:ext cx="812800" cy="1019622"/>
            </a:xfrm>
            <a:custGeom>
              <a:avLst/>
              <a:gdLst/>
              <a:ahLst/>
              <a:cxnLst/>
              <a:rect r="r" b="b" t="t" l="l"/>
              <a:pathLst>
                <a:path h="1019622" w="812800">
                  <a:moveTo>
                    <a:pt x="0" y="0"/>
                  </a:moveTo>
                  <a:lnTo>
                    <a:pt x="812800" y="0"/>
                  </a:lnTo>
                  <a:lnTo>
                    <a:pt x="812800" y="1019622"/>
                  </a:lnTo>
                  <a:lnTo>
                    <a:pt x="0" y="1019622"/>
                  </a:lnTo>
                  <a:close/>
                </a:path>
              </a:pathLst>
            </a:custGeom>
            <a:blipFill>
              <a:blip r:embed="rId2"/>
              <a:stretch>
                <a:fillRect l="-72582" t="-33109" r="-78044" b="0"/>
              </a:stretch>
            </a:blipFill>
          </p:spPr>
        </p:sp>
      </p:grpSp>
      <p:sp>
        <p:nvSpPr>
          <p:cNvPr name="Freeform 7" id="7"/>
          <p:cNvSpPr/>
          <p:nvPr/>
        </p:nvSpPr>
        <p:spPr>
          <a:xfrm flipH="false" flipV="false" rot="0">
            <a:off x="12792716" y="0"/>
            <a:ext cx="11700697" cy="11700697"/>
          </a:xfrm>
          <a:custGeom>
            <a:avLst/>
            <a:gdLst/>
            <a:ahLst/>
            <a:cxnLst/>
            <a:rect r="r" b="b" t="t" l="l"/>
            <a:pathLst>
              <a:path h="11700697" w="11700697">
                <a:moveTo>
                  <a:pt x="0" y="0"/>
                </a:moveTo>
                <a:lnTo>
                  <a:pt x="11700698" y="0"/>
                </a:lnTo>
                <a:lnTo>
                  <a:pt x="11700698" y="11700697"/>
                </a:lnTo>
                <a:lnTo>
                  <a:pt x="0" y="11700697"/>
                </a:lnTo>
                <a:lnTo>
                  <a:pt x="0" y="0"/>
                </a:lnTo>
                <a:close/>
              </a:path>
            </a:pathLst>
          </a:custGeom>
          <a:blipFill>
            <a:blip r:embed="rId3">
              <a:alphaModFix amt="18000"/>
              <a:extLst>
                <a:ext uri="{96DAC541-7B7A-43D3-8B79-37D633B846F1}">
                  <asvg:svgBlip xmlns:asvg="http://schemas.microsoft.com/office/drawing/2016/SVG/main" r:embed="rId4"/>
                </a:ext>
              </a:extLst>
            </a:blip>
            <a:stretch>
              <a:fillRect l="0" t="0" r="0" b="0"/>
            </a:stretch>
          </a:blipFill>
        </p:spPr>
      </p:sp>
      <p:sp>
        <p:nvSpPr>
          <p:cNvPr name="TextBox 8" id="8"/>
          <p:cNvSpPr txBox="true"/>
          <p:nvPr/>
        </p:nvSpPr>
        <p:spPr>
          <a:xfrm rot="0">
            <a:off x="6902021" y="2092794"/>
            <a:ext cx="9263064" cy="1840179"/>
          </a:xfrm>
          <a:prstGeom prst="rect">
            <a:avLst/>
          </a:prstGeom>
        </p:spPr>
        <p:txBody>
          <a:bodyPr anchor="t" rtlCol="false" tIns="0" lIns="0" bIns="0" rIns="0">
            <a:spAutoFit/>
          </a:bodyPr>
          <a:lstStyle/>
          <a:p>
            <a:pPr algn="l" marL="0" indent="0" lvl="0">
              <a:lnSpc>
                <a:spcPts val="7235"/>
              </a:lnSpc>
            </a:pPr>
            <a:r>
              <a:rPr lang="en-US" sz="6291">
                <a:solidFill>
                  <a:srgbClr val="BD3414"/>
                </a:solidFill>
                <a:latin typeface="Archivo Black"/>
                <a:ea typeface="Archivo Black"/>
                <a:cs typeface="Archivo Black"/>
                <a:sym typeface="Archivo Black"/>
              </a:rPr>
              <a:t>Business Understanding</a:t>
            </a:r>
          </a:p>
        </p:txBody>
      </p:sp>
      <p:sp>
        <p:nvSpPr>
          <p:cNvPr name="TextBox 9" id="9"/>
          <p:cNvSpPr txBox="true"/>
          <p:nvPr/>
        </p:nvSpPr>
        <p:spPr>
          <a:xfrm rot="0">
            <a:off x="6902021" y="4069569"/>
            <a:ext cx="9263064" cy="5837504"/>
          </a:xfrm>
          <a:prstGeom prst="rect">
            <a:avLst/>
          </a:prstGeom>
        </p:spPr>
        <p:txBody>
          <a:bodyPr anchor="t" rtlCol="false" tIns="0" lIns="0" bIns="0" rIns="0">
            <a:spAutoFit/>
          </a:bodyPr>
          <a:lstStyle/>
          <a:p>
            <a:pPr algn="l">
              <a:lnSpc>
                <a:spcPts val="4241"/>
              </a:lnSpc>
            </a:pPr>
            <a:r>
              <a:rPr lang="en-US" sz="2650" spc="132">
                <a:solidFill>
                  <a:srgbClr val="000000"/>
                </a:solidFill>
                <a:latin typeface="Quicksand"/>
                <a:ea typeface="Quicksand"/>
                <a:cs typeface="Quicksand"/>
                <a:sym typeface="Quicksand"/>
              </a:rPr>
              <a:t>On social media, consumer perceptions of technology products change quickly and openly. As two of the most talked-about tech companies in the world, Apple and Google receive thousands of mentions every day on Twitter. However, neither company nor its partners have a scalable method to track the real-time reception of product launches, updates, or service outages. This amount of tweets cannot be manually reviewed, and traditional survey-based feedback is too slow and too limited to capture natural public opinion.</a:t>
            </a:r>
          </a:p>
        </p:txBody>
      </p:sp>
      <p:sp>
        <p:nvSpPr>
          <p:cNvPr name="Freeform 10" id="10"/>
          <p:cNvSpPr/>
          <p:nvPr/>
        </p:nvSpPr>
        <p:spPr>
          <a:xfrm flipH="false" flipV="false" rot="0">
            <a:off x="699291" y="865771"/>
            <a:ext cx="445554" cy="502741"/>
          </a:xfrm>
          <a:custGeom>
            <a:avLst/>
            <a:gdLst/>
            <a:ahLst/>
            <a:cxnLst/>
            <a:rect r="r" b="b" t="t" l="l"/>
            <a:pathLst>
              <a:path h="502741" w="445554">
                <a:moveTo>
                  <a:pt x="0" y="0"/>
                </a:moveTo>
                <a:lnTo>
                  <a:pt x="445554" y="0"/>
                </a:lnTo>
                <a:lnTo>
                  <a:pt x="445554" y="502741"/>
                </a:lnTo>
                <a:lnTo>
                  <a:pt x="0" y="50274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1" id="11"/>
          <p:cNvSpPr txBox="true"/>
          <p:nvPr/>
        </p:nvSpPr>
        <p:spPr>
          <a:xfrm rot="0">
            <a:off x="1290556" y="982321"/>
            <a:ext cx="3321072" cy="288691"/>
          </a:xfrm>
          <a:prstGeom prst="rect">
            <a:avLst/>
          </a:prstGeom>
        </p:spPr>
        <p:txBody>
          <a:bodyPr anchor="t" rtlCol="false" tIns="0" lIns="0" bIns="0" rIns="0">
            <a:spAutoFit/>
          </a:bodyPr>
          <a:lstStyle/>
          <a:p>
            <a:pPr algn="l">
              <a:lnSpc>
                <a:spcPts val="2331"/>
              </a:lnSpc>
              <a:spcBef>
                <a:spcPct val="0"/>
              </a:spcBef>
            </a:pPr>
            <a:r>
              <a:rPr lang="en-US" b="true" sz="2027" spc="405">
                <a:solidFill>
                  <a:srgbClr val="000000"/>
                </a:solidFill>
                <a:latin typeface="Quicksand Bold"/>
                <a:ea typeface="Quicksand Bold"/>
                <a:cs typeface="Quicksand Bold"/>
                <a:sym typeface="Quicksand Bold"/>
              </a:rPr>
              <a:t>PHASE 4 GROUP 1</a:t>
            </a:r>
          </a:p>
        </p:txBody>
      </p:sp>
      <p:sp>
        <p:nvSpPr>
          <p:cNvPr name="Freeform 12" id="12"/>
          <p:cNvSpPr/>
          <p:nvPr/>
        </p:nvSpPr>
        <p:spPr>
          <a:xfrm flipH="false" flipV="false" rot="0">
            <a:off x="-1553637" y="2064219"/>
            <a:ext cx="4951410" cy="1225474"/>
          </a:xfrm>
          <a:custGeom>
            <a:avLst/>
            <a:gdLst/>
            <a:ahLst/>
            <a:cxnLst/>
            <a:rect r="r" b="b" t="t" l="l"/>
            <a:pathLst>
              <a:path h="1225474" w="4951410">
                <a:moveTo>
                  <a:pt x="0" y="0"/>
                </a:moveTo>
                <a:lnTo>
                  <a:pt x="4951410" y="0"/>
                </a:lnTo>
                <a:lnTo>
                  <a:pt x="4951410" y="1225474"/>
                </a:lnTo>
                <a:lnTo>
                  <a:pt x="0" y="1225474"/>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3" id="13"/>
          <p:cNvSpPr/>
          <p:nvPr/>
        </p:nvSpPr>
        <p:spPr>
          <a:xfrm flipH="false" flipV="false" rot="0">
            <a:off x="16573586" y="8609526"/>
            <a:ext cx="1297547" cy="1297547"/>
          </a:xfrm>
          <a:custGeom>
            <a:avLst/>
            <a:gdLst/>
            <a:ahLst/>
            <a:cxnLst/>
            <a:rect r="r" b="b" t="t" l="l"/>
            <a:pathLst>
              <a:path h="1297547" w="1297547">
                <a:moveTo>
                  <a:pt x="0" y="0"/>
                </a:moveTo>
                <a:lnTo>
                  <a:pt x="1297547" y="0"/>
                </a:lnTo>
                <a:lnTo>
                  <a:pt x="1297547" y="1297548"/>
                </a:lnTo>
                <a:lnTo>
                  <a:pt x="0" y="1297548"/>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4" id="14"/>
          <p:cNvSpPr/>
          <p:nvPr/>
        </p:nvSpPr>
        <p:spPr>
          <a:xfrm flipH="false" flipV="false" rot="0">
            <a:off x="16127965" y="-1470166"/>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EBDBCC"/>
        </a:solidFill>
      </p:bgPr>
    </p:bg>
    <p:spTree>
      <p:nvGrpSpPr>
        <p:cNvPr id="1" name=""/>
        <p:cNvGrpSpPr/>
        <p:nvPr/>
      </p:nvGrpSpPr>
      <p:grpSpPr>
        <a:xfrm>
          <a:off x="0" y="0"/>
          <a:ext cx="0" cy="0"/>
          <a:chOff x="0" y="0"/>
          <a:chExt cx="0" cy="0"/>
        </a:xfrm>
      </p:grpSpPr>
      <p:grpSp>
        <p:nvGrpSpPr>
          <p:cNvPr name="Group 2" id="2"/>
          <p:cNvGrpSpPr/>
          <p:nvPr/>
        </p:nvGrpSpPr>
        <p:grpSpPr>
          <a:xfrm rot="0">
            <a:off x="-419392" y="7506175"/>
            <a:ext cx="5913104" cy="3086100"/>
            <a:chOff x="0" y="0"/>
            <a:chExt cx="1557361" cy="812800"/>
          </a:xfrm>
        </p:grpSpPr>
        <p:sp>
          <p:nvSpPr>
            <p:cNvPr name="Freeform 3" id="3"/>
            <p:cNvSpPr/>
            <p:nvPr/>
          </p:nvSpPr>
          <p:spPr>
            <a:xfrm flipH="false" flipV="false" rot="0">
              <a:off x="0" y="0"/>
              <a:ext cx="1557361" cy="812800"/>
            </a:xfrm>
            <a:custGeom>
              <a:avLst/>
              <a:gdLst/>
              <a:ahLst/>
              <a:cxnLst/>
              <a:rect r="r" b="b" t="t" l="l"/>
              <a:pathLst>
                <a:path h="812800" w="1557361">
                  <a:moveTo>
                    <a:pt x="0" y="0"/>
                  </a:moveTo>
                  <a:lnTo>
                    <a:pt x="1557361" y="0"/>
                  </a:lnTo>
                  <a:lnTo>
                    <a:pt x="1557361" y="812800"/>
                  </a:lnTo>
                  <a:lnTo>
                    <a:pt x="0" y="812800"/>
                  </a:lnTo>
                  <a:close/>
                </a:path>
              </a:pathLst>
            </a:custGeom>
            <a:solidFill>
              <a:srgbClr val="BD3414"/>
            </a:solidFill>
          </p:spPr>
        </p:sp>
        <p:sp>
          <p:nvSpPr>
            <p:cNvPr name="TextBox 4" id="4"/>
            <p:cNvSpPr txBox="true"/>
            <p:nvPr/>
          </p:nvSpPr>
          <p:spPr>
            <a:xfrm>
              <a:off x="0" y="-57150"/>
              <a:ext cx="1557361" cy="869950"/>
            </a:xfrm>
            <a:prstGeom prst="rect">
              <a:avLst/>
            </a:prstGeom>
          </p:spPr>
          <p:txBody>
            <a:bodyPr anchor="ctr" rtlCol="false" tIns="50800" lIns="50800" bIns="50800" rIns="50800"/>
            <a:lstStyle/>
            <a:p>
              <a:pPr algn="ctr">
                <a:lnSpc>
                  <a:spcPts val="2939"/>
                </a:lnSpc>
              </a:pPr>
            </a:p>
          </p:txBody>
        </p:sp>
      </p:grpSp>
      <p:grpSp>
        <p:nvGrpSpPr>
          <p:cNvPr name="Group 5" id="5"/>
          <p:cNvGrpSpPr/>
          <p:nvPr/>
        </p:nvGrpSpPr>
        <p:grpSpPr>
          <a:xfrm rot="0">
            <a:off x="1028700" y="2676956"/>
            <a:ext cx="5246370" cy="6581344"/>
            <a:chOff x="0" y="0"/>
            <a:chExt cx="812800" cy="1019622"/>
          </a:xfrm>
        </p:grpSpPr>
        <p:sp>
          <p:nvSpPr>
            <p:cNvPr name="Freeform 6" id="6"/>
            <p:cNvSpPr/>
            <p:nvPr/>
          </p:nvSpPr>
          <p:spPr>
            <a:xfrm flipH="false" flipV="false" rot="0">
              <a:off x="0" y="0"/>
              <a:ext cx="812800" cy="1019622"/>
            </a:xfrm>
            <a:custGeom>
              <a:avLst/>
              <a:gdLst/>
              <a:ahLst/>
              <a:cxnLst/>
              <a:rect r="r" b="b" t="t" l="l"/>
              <a:pathLst>
                <a:path h="1019622" w="812800">
                  <a:moveTo>
                    <a:pt x="0" y="0"/>
                  </a:moveTo>
                  <a:lnTo>
                    <a:pt x="812800" y="0"/>
                  </a:lnTo>
                  <a:lnTo>
                    <a:pt x="812800" y="1019622"/>
                  </a:lnTo>
                  <a:lnTo>
                    <a:pt x="0" y="1019622"/>
                  </a:lnTo>
                  <a:close/>
                </a:path>
              </a:pathLst>
            </a:custGeom>
            <a:blipFill>
              <a:blip r:embed="rId2"/>
              <a:stretch>
                <a:fillRect l="-72582" t="-33109" r="-78044" b="0"/>
              </a:stretch>
            </a:blipFill>
          </p:spPr>
        </p:sp>
      </p:grpSp>
      <p:sp>
        <p:nvSpPr>
          <p:cNvPr name="Freeform 7" id="7"/>
          <p:cNvSpPr/>
          <p:nvPr/>
        </p:nvSpPr>
        <p:spPr>
          <a:xfrm flipH="false" flipV="false" rot="0">
            <a:off x="12792716" y="0"/>
            <a:ext cx="11700697" cy="11700697"/>
          </a:xfrm>
          <a:custGeom>
            <a:avLst/>
            <a:gdLst/>
            <a:ahLst/>
            <a:cxnLst/>
            <a:rect r="r" b="b" t="t" l="l"/>
            <a:pathLst>
              <a:path h="11700697" w="11700697">
                <a:moveTo>
                  <a:pt x="0" y="0"/>
                </a:moveTo>
                <a:lnTo>
                  <a:pt x="11700698" y="0"/>
                </a:lnTo>
                <a:lnTo>
                  <a:pt x="11700698" y="11700697"/>
                </a:lnTo>
                <a:lnTo>
                  <a:pt x="0" y="11700697"/>
                </a:lnTo>
                <a:lnTo>
                  <a:pt x="0" y="0"/>
                </a:lnTo>
                <a:close/>
              </a:path>
            </a:pathLst>
          </a:custGeom>
          <a:blipFill>
            <a:blip r:embed="rId3">
              <a:alphaModFix amt="18000"/>
              <a:extLst>
                <a:ext uri="{96DAC541-7B7A-43D3-8B79-37D633B846F1}">
                  <asvg:svgBlip xmlns:asvg="http://schemas.microsoft.com/office/drawing/2016/SVG/main" r:embed="rId4"/>
                </a:ext>
              </a:extLst>
            </a:blip>
            <a:stretch>
              <a:fillRect l="0" t="0" r="0" b="0"/>
            </a:stretch>
          </a:blipFill>
        </p:spPr>
      </p:sp>
      <p:sp>
        <p:nvSpPr>
          <p:cNvPr name="TextBox 8" id="8"/>
          <p:cNvSpPr txBox="true"/>
          <p:nvPr/>
        </p:nvSpPr>
        <p:spPr>
          <a:xfrm rot="0">
            <a:off x="6902021" y="2092794"/>
            <a:ext cx="9263064" cy="925779"/>
          </a:xfrm>
          <a:prstGeom prst="rect">
            <a:avLst/>
          </a:prstGeom>
        </p:spPr>
        <p:txBody>
          <a:bodyPr anchor="t" rtlCol="false" tIns="0" lIns="0" bIns="0" rIns="0">
            <a:spAutoFit/>
          </a:bodyPr>
          <a:lstStyle/>
          <a:p>
            <a:pPr algn="l" marL="0" indent="0" lvl="0">
              <a:lnSpc>
                <a:spcPts val="7235"/>
              </a:lnSpc>
            </a:pPr>
            <a:r>
              <a:rPr lang="en-US" sz="6291">
                <a:solidFill>
                  <a:srgbClr val="BD3414"/>
                </a:solidFill>
                <a:latin typeface="Archivo Black"/>
                <a:ea typeface="Archivo Black"/>
                <a:cs typeface="Archivo Black"/>
                <a:sym typeface="Archivo Black"/>
              </a:rPr>
              <a:t>Problem Statement</a:t>
            </a:r>
          </a:p>
        </p:txBody>
      </p:sp>
      <p:sp>
        <p:nvSpPr>
          <p:cNvPr name="TextBox 9" id="9"/>
          <p:cNvSpPr txBox="true"/>
          <p:nvPr/>
        </p:nvSpPr>
        <p:spPr>
          <a:xfrm rot="0">
            <a:off x="6902021" y="4069569"/>
            <a:ext cx="9263064" cy="4770704"/>
          </a:xfrm>
          <a:prstGeom prst="rect">
            <a:avLst/>
          </a:prstGeom>
        </p:spPr>
        <p:txBody>
          <a:bodyPr anchor="t" rtlCol="false" tIns="0" lIns="0" bIns="0" rIns="0">
            <a:spAutoFit/>
          </a:bodyPr>
          <a:lstStyle/>
          <a:p>
            <a:pPr algn="l">
              <a:lnSpc>
                <a:spcPts val="4241"/>
              </a:lnSpc>
            </a:pPr>
            <a:r>
              <a:rPr lang="en-US" sz="2650" spc="132">
                <a:solidFill>
                  <a:srgbClr val="000000"/>
                </a:solidFill>
                <a:latin typeface="Quicksand"/>
                <a:ea typeface="Quicksand"/>
                <a:cs typeface="Quicksand"/>
                <a:sym typeface="Quicksand"/>
              </a:rPr>
              <a:t>This project develops a natural language processing model that automatically categorises tweet sentiment as positive, negative, or neutral using a labelled dataset of more than 9,000 tweets about Apple and Google products. The objective is to offer a proof-of-concept sentiment classification system that can assist stakeholders and technology brands in comprehending public opinion at scale without the need for manual review.</a:t>
            </a:r>
          </a:p>
        </p:txBody>
      </p:sp>
      <p:sp>
        <p:nvSpPr>
          <p:cNvPr name="Freeform 10" id="10"/>
          <p:cNvSpPr/>
          <p:nvPr/>
        </p:nvSpPr>
        <p:spPr>
          <a:xfrm flipH="false" flipV="false" rot="0">
            <a:off x="699291" y="865771"/>
            <a:ext cx="445554" cy="502741"/>
          </a:xfrm>
          <a:custGeom>
            <a:avLst/>
            <a:gdLst/>
            <a:ahLst/>
            <a:cxnLst/>
            <a:rect r="r" b="b" t="t" l="l"/>
            <a:pathLst>
              <a:path h="502741" w="445554">
                <a:moveTo>
                  <a:pt x="0" y="0"/>
                </a:moveTo>
                <a:lnTo>
                  <a:pt x="445554" y="0"/>
                </a:lnTo>
                <a:lnTo>
                  <a:pt x="445554" y="502741"/>
                </a:lnTo>
                <a:lnTo>
                  <a:pt x="0" y="50274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1" id="11"/>
          <p:cNvSpPr txBox="true"/>
          <p:nvPr/>
        </p:nvSpPr>
        <p:spPr>
          <a:xfrm rot="0">
            <a:off x="1290556" y="982321"/>
            <a:ext cx="3321072" cy="288691"/>
          </a:xfrm>
          <a:prstGeom prst="rect">
            <a:avLst/>
          </a:prstGeom>
        </p:spPr>
        <p:txBody>
          <a:bodyPr anchor="t" rtlCol="false" tIns="0" lIns="0" bIns="0" rIns="0">
            <a:spAutoFit/>
          </a:bodyPr>
          <a:lstStyle/>
          <a:p>
            <a:pPr algn="l">
              <a:lnSpc>
                <a:spcPts val="2331"/>
              </a:lnSpc>
              <a:spcBef>
                <a:spcPct val="0"/>
              </a:spcBef>
            </a:pPr>
            <a:r>
              <a:rPr lang="en-US" b="true" sz="2027" spc="405">
                <a:solidFill>
                  <a:srgbClr val="000000"/>
                </a:solidFill>
                <a:latin typeface="Quicksand Bold"/>
                <a:ea typeface="Quicksand Bold"/>
                <a:cs typeface="Quicksand Bold"/>
                <a:sym typeface="Quicksand Bold"/>
              </a:rPr>
              <a:t>PHASE 4 GROUP 1</a:t>
            </a:r>
          </a:p>
        </p:txBody>
      </p:sp>
      <p:sp>
        <p:nvSpPr>
          <p:cNvPr name="Freeform 12" id="12"/>
          <p:cNvSpPr/>
          <p:nvPr/>
        </p:nvSpPr>
        <p:spPr>
          <a:xfrm flipH="false" flipV="false" rot="0">
            <a:off x="-1553637" y="2064219"/>
            <a:ext cx="4951410" cy="1225474"/>
          </a:xfrm>
          <a:custGeom>
            <a:avLst/>
            <a:gdLst/>
            <a:ahLst/>
            <a:cxnLst/>
            <a:rect r="r" b="b" t="t" l="l"/>
            <a:pathLst>
              <a:path h="1225474" w="4951410">
                <a:moveTo>
                  <a:pt x="0" y="0"/>
                </a:moveTo>
                <a:lnTo>
                  <a:pt x="4951410" y="0"/>
                </a:lnTo>
                <a:lnTo>
                  <a:pt x="4951410" y="1225474"/>
                </a:lnTo>
                <a:lnTo>
                  <a:pt x="0" y="1225474"/>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3" id="13"/>
          <p:cNvSpPr/>
          <p:nvPr/>
        </p:nvSpPr>
        <p:spPr>
          <a:xfrm flipH="false" flipV="false" rot="0">
            <a:off x="16573586" y="8609526"/>
            <a:ext cx="1297547" cy="1297547"/>
          </a:xfrm>
          <a:custGeom>
            <a:avLst/>
            <a:gdLst/>
            <a:ahLst/>
            <a:cxnLst/>
            <a:rect r="r" b="b" t="t" l="l"/>
            <a:pathLst>
              <a:path h="1297547" w="1297547">
                <a:moveTo>
                  <a:pt x="0" y="0"/>
                </a:moveTo>
                <a:lnTo>
                  <a:pt x="1297547" y="0"/>
                </a:lnTo>
                <a:lnTo>
                  <a:pt x="1297547" y="1297548"/>
                </a:lnTo>
                <a:lnTo>
                  <a:pt x="0" y="1297548"/>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4" id="14"/>
          <p:cNvSpPr/>
          <p:nvPr/>
        </p:nvSpPr>
        <p:spPr>
          <a:xfrm flipH="false" flipV="false" rot="0">
            <a:off x="16127965" y="-1470166"/>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EBDBCC"/>
        </a:solidFill>
      </p:bgPr>
    </p:bg>
    <p:spTree>
      <p:nvGrpSpPr>
        <p:cNvPr id="1" name=""/>
        <p:cNvGrpSpPr/>
        <p:nvPr/>
      </p:nvGrpSpPr>
      <p:grpSpPr>
        <a:xfrm>
          <a:off x="0" y="0"/>
          <a:ext cx="0" cy="0"/>
          <a:chOff x="0" y="0"/>
          <a:chExt cx="0" cy="0"/>
        </a:xfrm>
      </p:grpSpPr>
      <p:sp>
        <p:nvSpPr>
          <p:cNvPr name="Freeform 2" id="2"/>
          <p:cNvSpPr/>
          <p:nvPr/>
        </p:nvSpPr>
        <p:spPr>
          <a:xfrm flipH="false" flipV="false" rot="0">
            <a:off x="11367558" y="-1950869"/>
            <a:ext cx="14186001" cy="14186001"/>
          </a:xfrm>
          <a:custGeom>
            <a:avLst/>
            <a:gdLst/>
            <a:ahLst/>
            <a:cxnLst/>
            <a:rect r="r" b="b" t="t" l="l"/>
            <a:pathLst>
              <a:path h="14186001" w="14186001">
                <a:moveTo>
                  <a:pt x="0" y="0"/>
                </a:moveTo>
                <a:lnTo>
                  <a:pt x="14186002" y="0"/>
                </a:lnTo>
                <a:lnTo>
                  <a:pt x="14186002" y="14186002"/>
                </a:lnTo>
                <a:lnTo>
                  <a:pt x="0" y="14186002"/>
                </a:lnTo>
                <a:lnTo>
                  <a:pt x="0" y="0"/>
                </a:lnTo>
                <a:close/>
              </a:path>
            </a:pathLst>
          </a:custGeom>
          <a:blipFill>
            <a:blip r:embed="rId2">
              <a:alphaModFix amt="18000"/>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9807222" y="2984193"/>
            <a:ext cx="7142674" cy="5396509"/>
            <a:chOff x="0" y="0"/>
            <a:chExt cx="1881198" cy="1421303"/>
          </a:xfrm>
        </p:grpSpPr>
        <p:sp>
          <p:nvSpPr>
            <p:cNvPr name="Freeform 4" id="4"/>
            <p:cNvSpPr/>
            <p:nvPr/>
          </p:nvSpPr>
          <p:spPr>
            <a:xfrm flipH="false" flipV="false" rot="0">
              <a:off x="0" y="0"/>
              <a:ext cx="1881198" cy="1421303"/>
            </a:xfrm>
            <a:custGeom>
              <a:avLst/>
              <a:gdLst/>
              <a:ahLst/>
              <a:cxnLst/>
              <a:rect r="r" b="b" t="t" l="l"/>
              <a:pathLst>
                <a:path h="1421303" w="1881198">
                  <a:moveTo>
                    <a:pt x="54195" y="0"/>
                  </a:moveTo>
                  <a:lnTo>
                    <a:pt x="1827003" y="0"/>
                  </a:lnTo>
                  <a:cubicBezTo>
                    <a:pt x="1856934" y="0"/>
                    <a:pt x="1881198" y="24264"/>
                    <a:pt x="1881198" y="54195"/>
                  </a:cubicBezTo>
                  <a:lnTo>
                    <a:pt x="1881198" y="1367108"/>
                  </a:lnTo>
                  <a:cubicBezTo>
                    <a:pt x="1881198" y="1397039"/>
                    <a:pt x="1856934" y="1421303"/>
                    <a:pt x="1827003" y="1421303"/>
                  </a:cubicBezTo>
                  <a:lnTo>
                    <a:pt x="54195" y="1421303"/>
                  </a:lnTo>
                  <a:cubicBezTo>
                    <a:pt x="24264" y="1421303"/>
                    <a:pt x="0" y="1397039"/>
                    <a:pt x="0" y="1367108"/>
                  </a:cubicBezTo>
                  <a:lnTo>
                    <a:pt x="0" y="54195"/>
                  </a:lnTo>
                  <a:cubicBezTo>
                    <a:pt x="0" y="24264"/>
                    <a:pt x="24264" y="0"/>
                    <a:pt x="54195" y="0"/>
                  </a:cubicBezTo>
                  <a:close/>
                </a:path>
              </a:pathLst>
            </a:custGeom>
            <a:solidFill>
              <a:srgbClr val="F6D7A5"/>
            </a:solidFill>
          </p:spPr>
        </p:sp>
        <p:sp>
          <p:nvSpPr>
            <p:cNvPr name="TextBox 5" id="5"/>
            <p:cNvSpPr txBox="true"/>
            <p:nvPr/>
          </p:nvSpPr>
          <p:spPr>
            <a:xfrm>
              <a:off x="0" y="-57150"/>
              <a:ext cx="1881198" cy="1478453"/>
            </a:xfrm>
            <a:prstGeom prst="rect">
              <a:avLst/>
            </a:prstGeom>
          </p:spPr>
          <p:txBody>
            <a:bodyPr anchor="ctr" rtlCol="false" tIns="50800" lIns="50800" bIns="50800" rIns="50800"/>
            <a:lstStyle/>
            <a:p>
              <a:pPr algn="ctr">
                <a:lnSpc>
                  <a:spcPts val="2939"/>
                </a:lnSpc>
              </a:pPr>
            </a:p>
          </p:txBody>
        </p:sp>
      </p:grpSp>
      <p:grpSp>
        <p:nvGrpSpPr>
          <p:cNvPr name="Group 6" id="6"/>
          <p:cNvGrpSpPr/>
          <p:nvPr/>
        </p:nvGrpSpPr>
        <p:grpSpPr>
          <a:xfrm rot="0">
            <a:off x="1082137" y="2843113"/>
            <a:ext cx="7391442" cy="5396509"/>
            <a:chOff x="0" y="0"/>
            <a:chExt cx="1946717" cy="1421303"/>
          </a:xfrm>
        </p:grpSpPr>
        <p:sp>
          <p:nvSpPr>
            <p:cNvPr name="Freeform 7" id="7"/>
            <p:cNvSpPr/>
            <p:nvPr/>
          </p:nvSpPr>
          <p:spPr>
            <a:xfrm flipH="false" flipV="false" rot="0">
              <a:off x="0" y="0"/>
              <a:ext cx="1946717" cy="1421303"/>
            </a:xfrm>
            <a:custGeom>
              <a:avLst/>
              <a:gdLst/>
              <a:ahLst/>
              <a:cxnLst/>
              <a:rect r="r" b="b" t="t" l="l"/>
              <a:pathLst>
                <a:path h="1421303" w="1946717">
                  <a:moveTo>
                    <a:pt x="52371" y="0"/>
                  </a:moveTo>
                  <a:lnTo>
                    <a:pt x="1894346" y="0"/>
                  </a:lnTo>
                  <a:cubicBezTo>
                    <a:pt x="1908236" y="0"/>
                    <a:pt x="1921557" y="5518"/>
                    <a:pt x="1931378" y="15339"/>
                  </a:cubicBezTo>
                  <a:cubicBezTo>
                    <a:pt x="1941200" y="25160"/>
                    <a:pt x="1946717" y="38481"/>
                    <a:pt x="1946717" y="52371"/>
                  </a:cubicBezTo>
                  <a:lnTo>
                    <a:pt x="1946717" y="1368932"/>
                  </a:lnTo>
                  <a:cubicBezTo>
                    <a:pt x="1946717" y="1382822"/>
                    <a:pt x="1941200" y="1396142"/>
                    <a:pt x="1931378" y="1405964"/>
                  </a:cubicBezTo>
                  <a:cubicBezTo>
                    <a:pt x="1921557" y="1415785"/>
                    <a:pt x="1908236" y="1421303"/>
                    <a:pt x="1894346" y="1421303"/>
                  </a:cubicBezTo>
                  <a:lnTo>
                    <a:pt x="52371" y="1421303"/>
                  </a:lnTo>
                  <a:cubicBezTo>
                    <a:pt x="38481" y="1421303"/>
                    <a:pt x="25160" y="1415785"/>
                    <a:pt x="15339" y="1405964"/>
                  </a:cubicBezTo>
                  <a:cubicBezTo>
                    <a:pt x="5518" y="1396142"/>
                    <a:pt x="0" y="1382822"/>
                    <a:pt x="0" y="1368932"/>
                  </a:cubicBezTo>
                  <a:lnTo>
                    <a:pt x="0" y="52371"/>
                  </a:lnTo>
                  <a:cubicBezTo>
                    <a:pt x="0" y="38481"/>
                    <a:pt x="5518" y="25160"/>
                    <a:pt x="15339" y="15339"/>
                  </a:cubicBezTo>
                  <a:cubicBezTo>
                    <a:pt x="25160" y="5518"/>
                    <a:pt x="38481" y="0"/>
                    <a:pt x="52371" y="0"/>
                  </a:cubicBezTo>
                  <a:close/>
                </a:path>
              </a:pathLst>
            </a:custGeom>
            <a:solidFill>
              <a:srgbClr val="F6D7A5"/>
            </a:solidFill>
          </p:spPr>
        </p:sp>
        <p:sp>
          <p:nvSpPr>
            <p:cNvPr name="TextBox 8" id="8"/>
            <p:cNvSpPr txBox="true"/>
            <p:nvPr/>
          </p:nvSpPr>
          <p:spPr>
            <a:xfrm>
              <a:off x="0" y="-57150"/>
              <a:ext cx="1946717" cy="1478453"/>
            </a:xfrm>
            <a:prstGeom prst="rect">
              <a:avLst/>
            </a:prstGeom>
          </p:spPr>
          <p:txBody>
            <a:bodyPr anchor="ctr" rtlCol="false" tIns="50800" lIns="50800" bIns="50800" rIns="50800"/>
            <a:lstStyle/>
            <a:p>
              <a:pPr algn="ctr">
                <a:lnSpc>
                  <a:spcPts val="2939"/>
                </a:lnSpc>
              </a:pPr>
            </a:p>
          </p:txBody>
        </p:sp>
      </p:grpSp>
      <p:sp>
        <p:nvSpPr>
          <p:cNvPr name="Freeform 9" id="9"/>
          <p:cNvSpPr/>
          <p:nvPr/>
        </p:nvSpPr>
        <p:spPr>
          <a:xfrm flipH="false" flipV="false" rot="0">
            <a:off x="9234312" y="2702033"/>
            <a:ext cx="952500" cy="952500"/>
          </a:xfrm>
          <a:custGeom>
            <a:avLst/>
            <a:gdLst/>
            <a:ahLst/>
            <a:cxnLst/>
            <a:rect r="r" b="b" t="t" l="l"/>
            <a:pathLst>
              <a:path h="952500" w="952500">
                <a:moveTo>
                  <a:pt x="0" y="0"/>
                </a:moveTo>
                <a:lnTo>
                  <a:pt x="952500" y="0"/>
                </a:lnTo>
                <a:lnTo>
                  <a:pt x="952500" y="952500"/>
                </a:lnTo>
                <a:lnTo>
                  <a:pt x="0" y="9525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0">
            <a:off x="477610" y="2560952"/>
            <a:ext cx="952500" cy="952500"/>
          </a:xfrm>
          <a:custGeom>
            <a:avLst/>
            <a:gdLst/>
            <a:ahLst/>
            <a:cxnLst/>
            <a:rect r="r" b="b" t="t" l="l"/>
            <a:pathLst>
              <a:path h="952500" w="952500">
                <a:moveTo>
                  <a:pt x="0" y="0"/>
                </a:moveTo>
                <a:lnTo>
                  <a:pt x="952500" y="0"/>
                </a:lnTo>
                <a:lnTo>
                  <a:pt x="952500" y="952500"/>
                </a:lnTo>
                <a:lnTo>
                  <a:pt x="0" y="9525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1" id="11"/>
          <p:cNvGrpSpPr/>
          <p:nvPr/>
        </p:nvGrpSpPr>
        <p:grpSpPr>
          <a:xfrm rot="0">
            <a:off x="9807222" y="3320273"/>
            <a:ext cx="7142674" cy="1181626"/>
            <a:chOff x="0" y="0"/>
            <a:chExt cx="1881198" cy="311210"/>
          </a:xfrm>
        </p:grpSpPr>
        <p:sp>
          <p:nvSpPr>
            <p:cNvPr name="Freeform 12" id="12"/>
            <p:cNvSpPr/>
            <p:nvPr/>
          </p:nvSpPr>
          <p:spPr>
            <a:xfrm flipH="false" flipV="false" rot="0">
              <a:off x="0" y="0"/>
              <a:ext cx="1881198" cy="311210"/>
            </a:xfrm>
            <a:custGeom>
              <a:avLst/>
              <a:gdLst/>
              <a:ahLst/>
              <a:cxnLst/>
              <a:rect r="r" b="b" t="t" l="l"/>
              <a:pathLst>
                <a:path h="311210" w="1881198">
                  <a:moveTo>
                    <a:pt x="0" y="0"/>
                  </a:moveTo>
                  <a:lnTo>
                    <a:pt x="1881198" y="0"/>
                  </a:lnTo>
                  <a:lnTo>
                    <a:pt x="1881198" y="311210"/>
                  </a:lnTo>
                  <a:lnTo>
                    <a:pt x="0" y="311210"/>
                  </a:lnTo>
                  <a:close/>
                </a:path>
              </a:pathLst>
            </a:custGeom>
            <a:solidFill>
              <a:srgbClr val="BD3414"/>
            </a:solidFill>
          </p:spPr>
        </p:sp>
        <p:sp>
          <p:nvSpPr>
            <p:cNvPr name="TextBox 13" id="13"/>
            <p:cNvSpPr txBox="true"/>
            <p:nvPr/>
          </p:nvSpPr>
          <p:spPr>
            <a:xfrm>
              <a:off x="0" y="-57150"/>
              <a:ext cx="1881198" cy="368360"/>
            </a:xfrm>
            <a:prstGeom prst="rect">
              <a:avLst/>
            </a:prstGeom>
          </p:spPr>
          <p:txBody>
            <a:bodyPr anchor="ctr" rtlCol="false" tIns="50800" lIns="50800" bIns="50800" rIns="50800"/>
            <a:lstStyle/>
            <a:p>
              <a:pPr algn="ctr">
                <a:lnSpc>
                  <a:spcPts val="2939"/>
                </a:lnSpc>
              </a:pPr>
            </a:p>
          </p:txBody>
        </p:sp>
      </p:grpSp>
      <p:grpSp>
        <p:nvGrpSpPr>
          <p:cNvPr name="Group 14" id="14"/>
          <p:cNvGrpSpPr/>
          <p:nvPr/>
        </p:nvGrpSpPr>
        <p:grpSpPr>
          <a:xfrm rot="0">
            <a:off x="1082137" y="3179193"/>
            <a:ext cx="7391442" cy="1181626"/>
            <a:chOff x="0" y="0"/>
            <a:chExt cx="1946717" cy="311210"/>
          </a:xfrm>
        </p:grpSpPr>
        <p:sp>
          <p:nvSpPr>
            <p:cNvPr name="Freeform 15" id="15"/>
            <p:cNvSpPr/>
            <p:nvPr/>
          </p:nvSpPr>
          <p:spPr>
            <a:xfrm flipH="false" flipV="false" rot="0">
              <a:off x="0" y="0"/>
              <a:ext cx="1946717" cy="311210"/>
            </a:xfrm>
            <a:custGeom>
              <a:avLst/>
              <a:gdLst/>
              <a:ahLst/>
              <a:cxnLst/>
              <a:rect r="r" b="b" t="t" l="l"/>
              <a:pathLst>
                <a:path h="311210" w="1946717">
                  <a:moveTo>
                    <a:pt x="0" y="0"/>
                  </a:moveTo>
                  <a:lnTo>
                    <a:pt x="1946717" y="0"/>
                  </a:lnTo>
                  <a:lnTo>
                    <a:pt x="1946717" y="311210"/>
                  </a:lnTo>
                  <a:lnTo>
                    <a:pt x="0" y="311210"/>
                  </a:lnTo>
                  <a:close/>
                </a:path>
              </a:pathLst>
            </a:custGeom>
            <a:solidFill>
              <a:srgbClr val="BD3414"/>
            </a:solidFill>
          </p:spPr>
        </p:sp>
        <p:sp>
          <p:nvSpPr>
            <p:cNvPr name="TextBox 16" id="16"/>
            <p:cNvSpPr txBox="true"/>
            <p:nvPr/>
          </p:nvSpPr>
          <p:spPr>
            <a:xfrm>
              <a:off x="0" y="-57150"/>
              <a:ext cx="1946717" cy="368360"/>
            </a:xfrm>
            <a:prstGeom prst="rect">
              <a:avLst/>
            </a:prstGeom>
          </p:spPr>
          <p:txBody>
            <a:bodyPr anchor="ctr" rtlCol="false" tIns="50800" lIns="50800" bIns="50800" rIns="50800"/>
            <a:lstStyle/>
            <a:p>
              <a:pPr algn="ctr">
                <a:lnSpc>
                  <a:spcPts val="2939"/>
                </a:lnSpc>
              </a:pPr>
            </a:p>
          </p:txBody>
        </p:sp>
      </p:grpSp>
      <p:sp>
        <p:nvSpPr>
          <p:cNvPr name="Freeform 17" id="17"/>
          <p:cNvSpPr/>
          <p:nvPr/>
        </p:nvSpPr>
        <p:spPr>
          <a:xfrm flipH="false" flipV="false" rot="0">
            <a:off x="0" y="9428007"/>
            <a:ext cx="2361492" cy="858993"/>
          </a:xfrm>
          <a:custGeom>
            <a:avLst/>
            <a:gdLst/>
            <a:ahLst/>
            <a:cxnLst/>
            <a:rect r="r" b="b" t="t" l="l"/>
            <a:pathLst>
              <a:path h="858993" w="2361492">
                <a:moveTo>
                  <a:pt x="0" y="0"/>
                </a:moveTo>
                <a:lnTo>
                  <a:pt x="2361492" y="0"/>
                </a:lnTo>
                <a:lnTo>
                  <a:pt x="2361492" y="858993"/>
                </a:lnTo>
                <a:lnTo>
                  <a:pt x="0" y="85899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8" id="18"/>
          <p:cNvSpPr/>
          <p:nvPr/>
        </p:nvSpPr>
        <p:spPr>
          <a:xfrm flipH="false" flipV="false" rot="0">
            <a:off x="2037362" y="9428007"/>
            <a:ext cx="2361492" cy="858993"/>
          </a:xfrm>
          <a:custGeom>
            <a:avLst/>
            <a:gdLst/>
            <a:ahLst/>
            <a:cxnLst/>
            <a:rect r="r" b="b" t="t" l="l"/>
            <a:pathLst>
              <a:path h="858993" w="2361492">
                <a:moveTo>
                  <a:pt x="0" y="0"/>
                </a:moveTo>
                <a:lnTo>
                  <a:pt x="2361492" y="0"/>
                </a:lnTo>
                <a:lnTo>
                  <a:pt x="2361492" y="858993"/>
                </a:lnTo>
                <a:lnTo>
                  <a:pt x="0" y="85899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9" id="19"/>
          <p:cNvSpPr txBox="true"/>
          <p:nvPr/>
        </p:nvSpPr>
        <p:spPr>
          <a:xfrm rot="0">
            <a:off x="1028700" y="451785"/>
            <a:ext cx="13638383" cy="985469"/>
          </a:xfrm>
          <a:prstGeom prst="rect">
            <a:avLst/>
          </a:prstGeom>
        </p:spPr>
        <p:txBody>
          <a:bodyPr anchor="t" rtlCol="false" tIns="0" lIns="0" bIns="0" rIns="0">
            <a:spAutoFit/>
          </a:bodyPr>
          <a:lstStyle/>
          <a:p>
            <a:pPr algn="l" marL="0" indent="0" lvl="0">
              <a:lnSpc>
                <a:spcPts val="7695"/>
              </a:lnSpc>
            </a:pPr>
            <a:r>
              <a:rPr lang="en-US" sz="6691">
                <a:solidFill>
                  <a:srgbClr val="BD3414"/>
                </a:solidFill>
                <a:latin typeface="Archivo Black"/>
                <a:ea typeface="Archivo Black"/>
                <a:cs typeface="Archivo Black"/>
                <a:sym typeface="Archivo Black"/>
              </a:rPr>
              <a:t>Stakeholders</a:t>
            </a:r>
          </a:p>
        </p:txBody>
      </p:sp>
      <p:sp>
        <p:nvSpPr>
          <p:cNvPr name="TextBox 20" id="20"/>
          <p:cNvSpPr txBox="true"/>
          <p:nvPr/>
        </p:nvSpPr>
        <p:spPr>
          <a:xfrm rot="0">
            <a:off x="11298837" y="3703331"/>
            <a:ext cx="4143446" cy="548227"/>
          </a:xfrm>
          <a:prstGeom prst="rect">
            <a:avLst/>
          </a:prstGeom>
        </p:spPr>
        <p:txBody>
          <a:bodyPr anchor="t" rtlCol="false" tIns="0" lIns="0" bIns="0" rIns="0">
            <a:spAutoFit/>
          </a:bodyPr>
          <a:lstStyle/>
          <a:p>
            <a:pPr algn="l" marL="683594" indent="-341797" lvl="1">
              <a:lnSpc>
                <a:spcPts val="4432"/>
              </a:lnSpc>
              <a:buAutoNum type="arabicPeriod" startAt="1"/>
            </a:pPr>
            <a:r>
              <a:rPr lang="en-US" b="true" sz="3166" spc="316">
                <a:solidFill>
                  <a:srgbClr val="FFFFFF"/>
                </a:solidFill>
                <a:latin typeface="Quicksand Bold"/>
                <a:ea typeface="Quicksand Bold"/>
                <a:cs typeface="Quicksand Bold"/>
                <a:sym typeface="Quicksand Bold"/>
              </a:rPr>
              <a:t>Marketing</a:t>
            </a:r>
          </a:p>
        </p:txBody>
      </p:sp>
      <p:sp>
        <p:nvSpPr>
          <p:cNvPr name="TextBox 21" id="21"/>
          <p:cNvSpPr txBox="true"/>
          <p:nvPr/>
        </p:nvSpPr>
        <p:spPr>
          <a:xfrm rot="0">
            <a:off x="2792589" y="3587858"/>
            <a:ext cx="4252603" cy="548227"/>
          </a:xfrm>
          <a:prstGeom prst="rect">
            <a:avLst/>
          </a:prstGeom>
        </p:spPr>
        <p:txBody>
          <a:bodyPr anchor="t" rtlCol="false" tIns="0" lIns="0" bIns="0" rIns="0">
            <a:spAutoFit/>
          </a:bodyPr>
          <a:lstStyle/>
          <a:p>
            <a:pPr algn="l" marL="683594" indent="-341797" lvl="1">
              <a:lnSpc>
                <a:spcPts val="4432"/>
              </a:lnSpc>
              <a:buAutoNum type="arabicPeriod" startAt="1"/>
            </a:pPr>
            <a:r>
              <a:rPr lang="en-US" b="true" sz="3166" spc="316">
                <a:solidFill>
                  <a:srgbClr val="FFFFFF"/>
                </a:solidFill>
                <a:latin typeface="Quicksand Bold"/>
                <a:ea typeface="Quicksand Bold"/>
                <a:cs typeface="Quicksand Bold"/>
                <a:sym typeface="Quicksand Bold"/>
              </a:rPr>
              <a:t>Product Teams</a:t>
            </a:r>
          </a:p>
        </p:txBody>
      </p:sp>
      <p:sp>
        <p:nvSpPr>
          <p:cNvPr name="TextBox 22" id="22"/>
          <p:cNvSpPr txBox="true"/>
          <p:nvPr/>
        </p:nvSpPr>
        <p:spPr>
          <a:xfrm rot="0">
            <a:off x="9807222" y="4683137"/>
            <a:ext cx="7142674" cy="2606999"/>
          </a:xfrm>
          <a:prstGeom prst="rect">
            <a:avLst/>
          </a:prstGeom>
        </p:spPr>
        <p:txBody>
          <a:bodyPr anchor="t" rtlCol="false" tIns="0" lIns="0" bIns="0" rIns="0">
            <a:spAutoFit/>
          </a:bodyPr>
          <a:lstStyle/>
          <a:p>
            <a:pPr algn="l">
              <a:lnSpc>
                <a:spcPts val="2933"/>
              </a:lnSpc>
              <a:spcBef>
                <a:spcPct val="0"/>
              </a:spcBef>
            </a:pPr>
            <a:r>
              <a:rPr lang="en-US" sz="2550" spc="127">
                <a:solidFill>
                  <a:srgbClr val="000000"/>
                </a:solidFill>
                <a:latin typeface="Quicksand"/>
                <a:ea typeface="Quicksand"/>
                <a:cs typeface="Quicksand"/>
                <a:sym typeface="Quicksand"/>
              </a:rPr>
              <a:t>In real time, marketing must determine whether campaigns and product launches are succeeding. They can instantly assess public opinion by using a sentiment classifier on Twitter data, which enables them to modify messaging if negative sentiment is rising.</a:t>
            </a:r>
          </a:p>
        </p:txBody>
      </p:sp>
      <p:sp>
        <p:nvSpPr>
          <p:cNvPr name="TextBox 23" id="23"/>
          <p:cNvSpPr txBox="true"/>
          <p:nvPr/>
        </p:nvSpPr>
        <p:spPr>
          <a:xfrm rot="0">
            <a:off x="1267071" y="4542057"/>
            <a:ext cx="7206508" cy="2978474"/>
          </a:xfrm>
          <a:prstGeom prst="rect">
            <a:avLst/>
          </a:prstGeom>
        </p:spPr>
        <p:txBody>
          <a:bodyPr anchor="t" rtlCol="false" tIns="0" lIns="0" bIns="0" rIns="0">
            <a:spAutoFit/>
          </a:bodyPr>
          <a:lstStyle/>
          <a:p>
            <a:pPr algn="l">
              <a:lnSpc>
                <a:spcPts val="2933"/>
              </a:lnSpc>
              <a:spcBef>
                <a:spcPct val="0"/>
              </a:spcBef>
            </a:pPr>
            <a:r>
              <a:rPr lang="en-US" sz="2550" spc="127">
                <a:solidFill>
                  <a:srgbClr val="000000"/>
                </a:solidFill>
                <a:latin typeface="Quicksand"/>
                <a:ea typeface="Quicksand"/>
                <a:cs typeface="Quicksand"/>
                <a:sym typeface="Quicksand"/>
              </a:rPr>
              <a:t>Product decisions are directly influenced by the model's output. Without waiting for official feedback cycles, product teams can determine where user pain points exist and which features are resonating by knowing whether sentiment surrounding a product is primarily negative, positive, or neutral.</a:t>
            </a:r>
          </a:p>
        </p:txBody>
      </p:sp>
      <p:sp>
        <p:nvSpPr>
          <p:cNvPr name="Freeform 24" id="24"/>
          <p:cNvSpPr/>
          <p:nvPr/>
        </p:nvSpPr>
        <p:spPr>
          <a:xfrm flipH="false" flipV="false" rot="0">
            <a:off x="4074725" y="9428007"/>
            <a:ext cx="2361492" cy="858993"/>
          </a:xfrm>
          <a:custGeom>
            <a:avLst/>
            <a:gdLst/>
            <a:ahLst/>
            <a:cxnLst/>
            <a:rect r="r" b="b" t="t" l="l"/>
            <a:pathLst>
              <a:path h="858993" w="2361492">
                <a:moveTo>
                  <a:pt x="0" y="0"/>
                </a:moveTo>
                <a:lnTo>
                  <a:pt x="2361492" y="0"/>
                </a:lnTo>
                <a:lnTo>
                  <a:pt x="2361492" y="858993"/>
                </a:lnTo>
                <a:lnTo>
                  <a:pt x="0" y="85899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25" id="25"/>
          <p:cNvSpPr/>
          <p:nvPr/>
        </p:nvSpPr>
        <p:spPr>
          <a:xfrm flipH="false" flipV="false" rot="0">
            <a:off x="6112087" y="9428007"/>
            <a:ext cx="2361492" cy="858993"/>
          </a:xfrm>
          <a:custGeom>
            <a:avLst/>
            <a:gdLst/>
            <a:ahLst/>
            <a:cxnLst/>
            <a:rect r="r" b="b" t="t" l="l"/>
            <a:pathLst>
              <a:path h="858993" w="2361492">
                <a:moveTo>
                  <a:pt x="0" y="0"/>
                </a:moveTo>
                <a:lnTo>
                  <a:pt x="2361492" y="0"/>
                </a:lnTo>
                <a:lnTo>
                  <a:pt x="2361492" y="858993"/>
                </a:lnTo>
                <a:lnTo>
                  <a:pt x="0" y="85899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26" id="26"/>
          <p:cNvSpPr/>
          <p:nvPr/>
        </p:nvSpPr>
        <p:spPr>
          <a:xfrm flipH="false" flipV="false" rot="0">
            <a:off x="8149450" y="9428007"/>
            <a:ext cx="2361492" cy="858993"/>
          </a:xfrm>
          <a:custGeom>
            <a:avLst/>
            <a:gdLst/>
            <a:ahLst/>
            <a:cxnLst/>
            <a:rect r="r" b="b" t="t" l="l"/>
            <a:pathLst>
              <a:path h="858993" w="2361492">
                <a:moveTo>
                  <a:pt x="0" y="0"/>
                </a:moveTo>
                <a:lnTo>
                  <a:pt x="2361492" y="0"/>
                </a:lnTo>
                <a:lnTo>
                  <a:pt x="2361492" y="858993"/>
                </a:lnTo>
                <a:lnTo>
                  <a:pt x="0" y="85899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27" id="27"/>
          <p:cNvSpPr/>
          <p:nvPr/>
        </p:nvSpPr>
        <p:spPr>
          <a:xfrm flipH="false" flipV="false" rot="0">
            <a:off x="10186812" y="9428007"/>
            <a:ext cx="2361492" cy="858993"/>
          </a:xfrm>
          <a:custGeom>
            <a:avLst/>
            <a:gdLst/>
            <a:ahLst/>
            <a:cxnLst/>
            <a:rect r="r" b="b" t="t" l="l"/>
            <a:pathLst>
              <a:path h="858993" w="2361492">
                <a:moveTo>
                  <a:pt x="0" y="0"/>
                </a:moveTo>
                <a:lnTo>
                  <a:pt x="2361492" y="0"/>
                </a:lnTo>
                <a:lnTo>
                  <a:pt x="2361492" y="858993"/>
                </a:lnTo>
                <a:lnTo>
                  <a:pt x="0" y="85899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28" id="28"/>
          <p:cNvSpPr/>
          <p:nvPr/>
        </p:nvSpPr>
        <p:spPr>
          <a:xfrm flipH="false" flipV="false" rot="0">
            <a:off x="12224175" y="9428007"/>
            <a:ext cx="2361492" cy="858993"/>
          </a:xfrm>
          <a:custGeom>
            <a:avLst/>
            <a:gdLst/>
            <a:ahLst/>
            <a:cxnLst/>
            <a:rect r="r" b="b" t="t" l="l"/>
            <a:pathLst>
              <a:path h="858993" w="2361492">
                <a:moveTo>
                  <a:pt x="0" y="0"/>
                </a:moveTo>
                <a:lnTo>
                  <a:pt x="2361492" y="0"/>
                </a:lnTo>
                <a:lnTo>
                  <a:pt x="2361492" y="858993"/>
                </a:lnTo>
                <a:lnTo>
                  <a:pt x="0" y="85899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29" id="29"/>
          <p:cNvSpPr/>
          <p:nvPr/>
        </p:nvSpPr>
        <p:spPr>
          <a:xfrm flipH="false" flipV="false" rot="0">
            <a:off x="14261537" y="9428007"/>
            <a:ext cx="2361492" cy="858993"/>
          </a:xfrm>
          <a:custGeom>
            <a:avLst/>
            <a:gdLst/>
            <a:ahLst/>
            <a:cxnLst/>
            <a:rect r="r" b="b" t="t" l="l"/>
            <a:pathLst>
              <a:path h="858993" w="2361492">
                <a:moveTo>
                  <a:pt x="0" y="0"/>
                </a:moveTo>
                <a:lnTo>
                  <a:pt x="2361492" y="0"/>
                </a:lnTo>
                <a:lnTo>
                  <a:pt x="2361492" y="858993"/>
                </a:lnTo>
                <a:lnTo>
                  <a:pt x="0" y="85899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30" id="30"/>
          <p:cNvSpPr/>
          <p:nvPr/>
        </p:nvSpPr>
        <p:spPr>
          <a:xfrm flipH="false" flipV="false" rot="0">
            <a:off x="16298900" y="9428007"/>
            <a:ext cx="2361492" cy="858993"/>
          </a:xfrm>
          <a:custGeom>
            <a:avLst/>
            <a:gdLst/>
            <a:ahLst/>
            <a:cxnLst/>
            <a:rect r="r" b="b" t="t" l="l"/>
            <a:pathLst>
              <a:path h="858993" w="2361492">
                <a:moveTo>
                  <a:pt x="0" y="0"/>
                </a:moveTo>
                <a:lnTo>
                  <a:pt x="2361492" y="0"/>
                </a:lnTo>
                <a:lnTo>
                  <a:pt x="2361492" y="858993"/>
                </a:lnTo>
                <a:lnTo>
                  <a:pt x="0" y="85899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31" id="31"/>
          <p:cNvSpPr/>
          <p:nvPr/>
        </p:nvSpPr>
        <p:spPr>
          <a:xfrm flipH="false" flipV="false" rot="0">
            <a:off x="16301123" y="808186"/>
            <a:ext cx="1297547" cy="1297547"/>
          </a:xfrm>
          <a:custGeom>
            <a:avLst/>
            <a:gdLst/>
            <a:ahLst/>
            <a:cxnLst/>
            <a:rect r="r" b="b" t="t" l="l"/>
            <a:pathLst>
              <a:path h="1297547" w="1297547">
                <a:moveTo>
                  <a:pt x="0" y="0"/>
                </a:moveTo>
                <a:lnTo>
                  <a:pt x="1297547" y="0"/>
                </a:lnTo>
                <a:lnTo>
                  <a:pt x="1297547" y="1297548"/>
                </a:lnTo>
                <a:lnTo>
                  <a:pt x="0" y="129754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EBDBCC"/>
        </a:solidFill>
      </p:bgPr>
    </p:bg>
    <p:spTree>
      <p:nvGrpSpPr>
        <p:cNvPr id="1" name=""/>
        <p:cNvGrpSpPr/>
        <p:nvPr/>
      </p:nvGrpSpPr>
      <p:grpSpPr>
        <a:xfrm>
          <a:off x="0" y="0"/>
          <a:ext cx="0" cy="0"/>
          <a:chOff x="0" y="0"/>
          <a:chExt cx="0" cy="0"/>
        </a:xfrm>
      </p:grpSpPr>
      <p:sp>
        <p:nvSpPr>
          <p:cNvPr name="Freeform 2" id="2"/>
          <p:cNvSpPr/>
          <p:nvPr/>
        </p:nvSpPr>
        <p:spPr>
          <a:xfrm flipH="false" flipV="false" rot="0">
            <a:off x="11367558" y="-1950869"/>
            <a:ext cx="14186001" cy="14186001"/>
          </a:xfrm>
          <a:custGeom>
            <a:avLst/>
            <a:gdLst/>
            <a:ahLst/>
            <a:cxnLst/>
            <a:rect r="r" b="b" t="t" l="l"/>
            <a:pathLst>
              <a:path h="14186001" w="14186001">
                <a:moveTo>
                  <a:pt x="0" y="0"/>
                </a:moveTo>
                <a:lnTo>
                  <a:pt x="14186002" y="0"/>
                </a:lnTo>
                <a:lnTo>
                  <a:pt x="14186002" y="14186002"/>
                </a:lnTo>
                <a:lnTo>
                  <a:pt x="0" y="14186002"/>
                </a:lnTo>
                <a:lnTo>
                  <a:pt x="0" y="0"/>
                </a:lnTo>
                <a:close/>
              </a:path>
            </a:pathLst>
          </a:custGeom>
          <a:blipFill>
            <a:blip r:embed="rId2">
              <a:alphaModFix amt="18000"/>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9807222" y="2984193"/>
            <a:ext cx="7142674" cy="5396509"/>
            <a:chOff x="0" y="0"/>
            <a:chExt cx="1881198" cy="1421303"/>
          </a:xfrm>
        </p:grpSpPr>
        <p:sp>
          <p:nvSpPr>
            <p:cNvPr name="Freeform 4" id="4"/>
            <p:cNvSpPr/>
            <p:nvPr/>
          </p:nvSpPr>
          <p:spPr>
            <a:xfrm flipH="false" flipV="false" rot="0">
              <a:off x="0" y="0"/>
              <a:ext cx="1881198" cy="1421303"/>
            </a:xfrm>
            <a:custGeom>
              <a:avLst/>
              <a:gdLst/>
              <a:ahLst/>
              <a:cxnLst/>
              <a:rect r="r" b="b" t="t" l="l"/>
              <a:pathLst>
                <a:path h="1421303" w="1881198">
                  <a:moveTo>
                    <a:pt x="54195" y="0"/>
                  </a:moveTo>
                  <a:lnTo>
                    <a:pt x="1827003" y="0"/>
                  </a:lnTo>
                  <a:cubicBezTo>
                    <a:pt x="1856934" y="0"/>
                    <a:pt x="1881198" y="24264"/>
                    <a:pt x="1881198" y="54195"/>
                  </a:cubicBezTo>
                  <a:lnTo>
                    <a:pt x="1881198" y="1367108"/>
                  </a:lnTo>
                  <a:cubicBezTo>
                    <a:pt x="1881198" y="1397039"/>
                    <a:pt x="1856934" y="1421303"/>
                    <a:pt x="1827003" y="1421303"/>
                  </a:cubicBezTo>
                  <a:lnTo>
                    <a:pt x="54195" y="1421303"/>
                  </a:lnTo>
                  <a:cubicBezTo>
                    <a:pt x="24264" y="1421303"/>
                    <a:pt x="0" y="1397039"/>
                    <a:pt x="0" y="1367108"/>
                  </a:cubicBezTo>
                  <a:lnTo>
                    <a:pt x="0" y="54195"/>
                  </a:lnTo>
                  <a:cubicBezTo>
                    <a:pt x="0" y="24264"/>
                    <a:pt x="24264" y="0"/>
                    <a:pt x="54195" y="0"/>
                  </a:cubicBezTo>
                  <a:close/>
                </a:path>
              </a:pathLst>
            </a:custGeom>
            <a:solidFill>
              <a:srgbClr val="F6D7A5"/>
            </a:solidFill>
          </p:spPr>
        </p:sp>
        <p:sp>
          <p:nvSpPr>
            <p:cNvPr name="TextBox 5" id="5"/>
            <p:cNvSpPr txBox="true"/>
            <p:nvPr/>
          </p:nvSpPr>
          <p:spPr>
            <a:xfrm>
              <a:off x="0" y="-57150"/>
              <a:ext cx="1881198" cy="1478453"/>
            </a:xfrm>
            <a:prstGeom prst="rect">
              <a:avLst/>
            </a:prstGeom>
          </p:spPr>
          <p:txBody>
            <a:bodyPr anchor="ctr" rtlCol="false" tIns="50800" lIns="50800" bIns="50800" rIns="50800"/>
            <a:lstStyle/>
            <a:p>
              <a:pPr algn="ctr">
                <a:lnSpc>
                  <a:spcPts val="2939"/>
                </a:lnSpc>
              </a:pPr>
            </a:p>
          </p:txBody>
        </p:sp>
      </p:grpSp>
      <p:grpSp>
        <p:nvGrpSpPr>
          <p:cNvPr name="Group 6" id="6"/>
          <p:cNvGrpSpPr/>
          <p:nvPr/>
        </p:nvGrpSpPr>
        <p:grpSpPr>
          <a:xfrm rot="0">
            <a:off x="1082137" y="2843113"/>
            <a:ext cx="7391442" cy="5396509"/>
            <a:chOff x="0" y="0"/>
            <a:chExt cx="1946717" cy="1421303"/>
          </a:xfrm>
        </p:grpSpPr>
        <p:sp>
          <p:nvSpPr>
            <p:cNvPr name="Freeform 7" id="7"/>
            <p:cNvSpPr/>
            <p:nvPr/>
          </p:nvSpPr>
          <p:spPr>
            <a:xfrm flipH="false" flipV="false" rot="0">
              <a:off x="0" y="0"/>
              <a:ext cx="1946717" cy="1421303"/>
            </a:xfrm>
            <a:custGeom>
              <a:avLst/>
              <a:gdLst/>
              <a:ahLst/>
              <a:cxnLst/>
              <a:rect r="r" b="b" t="t" l="l"/>
              <a:pathLst>
                <a:path h="1421303" w="1946717">
                  <a:moveTo>
                    <a:pt x="52371" y="0"/>
                  </a:moveTo>
                  <a:lnTo>
                    <a:pt x="1894346" y="0"/>
                  </a:lnTo>
                  <a:cubicBezTo>
                    <a:pt x="1908236" y="0"/>
                    <a:pt x="1921557" y="5518"/>
                    <a:pt x="1931378" y="15339"/>
                  </a:cubicBezTo>
                  <a:cubicBezTo>
                    <a:pt x="1941200" y="25160"/>
                    <a:pt x="1946717" y="38481"/>
                    <a:pt x="1946717" y="52371"/>
                  </a:cubicBezTo>
                  <a:lnTo>
                    <a:pt x="1946717" y="1368932"/>
                  </a:lnTo>
                  <a:cubicBezTo>
                    <a:pt x="1946717" y="1382822"/>
                    <a:pt x="1941200" y="1396142"/>
                    <a:pt x="1931378" y="1405964"/>
                  </a:cubicBezTo>
                  <a:cubicBezTo>
                    <a:pt x="1921557" y="1415785"/>
                    <a:pt x="1908236" y="1421303"/>
                    <a:pt x="1894346" y="1421303"/>
                  </a:cubicBezTo>
                  <a:lnTo>
                    <a:pt x="52371" y="1421303"/>
                  </a:lnTo>
                  <a:cubicBezTo>
                    <a:pt x="38481" y="1421303"/>
                    <a:pt x="25160" y="1415785"/>
                    <a:pt x="15339" y="1405964"/>
                  </a:cubicBezTo>
                  <a:cubicBezTo>
                    <a:pt x="5518" y="1396142"/>
                    <a:pt x="0" y="1382822"/>
                    <a:pt x="0" y="1368932"/>
                  </a:cubicBezTo>
                  <a:lnTo>
                    <a:pt x="0" y="52371"/>
                  </a:lnTo>
                  <a:cubicBezTo>
                    <a:pt x="0" y="38481"/>
                    <a:pt x="5518" y="25160"/>
                    <a:pt x="15339" y="15339"/>
                  </a:cubicBezTo>
                  <a:cubicBezTo>
                    <a:pt x="25160" y="5518"/>
                    <a:pt x="38481" y="0"/>
                    <a:pt x="52371" y="0"/>
                  </a:cubicBezTo>
                  <a:close/>
                </a:path>
              </a:pathLst>
            </a:custGeom>
            <a:solidFill>
              <a:srgbClr val="F6D7A5"/>
            </a:solidFill>
          </p:spPr>
        </p:sp>
        <p:sp>
          <p:nvSpPr>
            <p:cNvPr name="TextBox 8" id="8"/>
            <p:cNvSpPr txBox="true"/>
            <p:nvPr/>
          </p:nvSpPr>
          <p:spPr>
            <a:xfrm>
              <a:off x="0" y="-57150"/>
              <a:ext cx="1946717" cy="1478453"/>
            </a:xfrm>
            <a:prstGeom prst="rect">
              <a:avLst/>
            </a:prstGeom>
          </p:spPr>
          <p:txBody>
            <a:bodyPr anchor="ctr" rtlCol="false" tIns="50800" lIns="50800" bIns="50800" rIns="50800"/>
            <a:lstStyle/>
            <a:p>
              <a:pPr algn="ctr">
                <a:lnSpc>
                  <a:spcPts val="2939"/>
                </a:lnSpc>
              </a:pPr>
            </a:p>
          </p:txBody>
        </p:sp>
      </p:grpSp>
      <p:sp>
        <p:nvSpPr>
          <p:cNvPr name="Freeform 9" id="9"/>
          <p:cNvSpPr/>
          <p:nvPr/>
        </p:nvSpPr>
        <p:spPr>
          <a:xfrm flipH="false" flipV="false" rot="0">
            <a:off x="9234312" y="2702033"/>
            <a:ext cx="952500" cy="952500"/>
          </a:xfrm>
          <a:custGeom>
            <a:avLst/>
            <a:gdLst/>
            <a:ahLst/>
            <a:cxnLst/>
            <a:rect r="r" b="b" t="t" l="l"/>
            <a:pathLst>
              <a:path h="952500" w="952500">
                <a:moveTo>
                  <a:pt x="0" y="0"/>
                </a:moveTo>
                <a:lnTo>
                  <a:pt x="952500" y="0"/>
                </a:lnTo>
                <a:lnTo>
                  <a:pt x="952500" y="952500"/>
                </a:lnTo>
                <a:lnTo>
                  <a:pt x="0" y="9525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0">
            <a:off x="477610" y="2560952"/>
            <a:ext cx="952500" cy="952500"/>
          </a:xfrm>
          <a:custGeom>
            <a:avLst/>
            <a:gdLst/>
            <a:ahLst/>
            <a:cxnLst/>
            <a:rect r="r" b="b" t="t" l="l"/>
            <a:pathLst>
              <a:path h="952500" w="952500">
                <a:moveTo>
                  <a:pt x="0" y="0"/>
                </a:moveTo>
                <a:lnTo>
                  <a:pt x="952500" y="0"/>
                </a:lnTo>
                <a:lnTo>
                  <a:pt x="952500" y="952500"/>
                </a:lnTo>
                <a:lnTo>
                  <a:pt x="0" y="9525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1" id="11"/>
          <p:cNvGrpSpPr/>
          <p:nvPr/>
        </p:nvGrpSpPr>
        <p:grpSpPr>
          <a:xfrm rot="0">
            <a:off x="9807222" y="3320273"/>
            <a:ext cx="7142674" cy="1181626"/>
            <a:chOff x="0" y="0"/>
            <a:chExt cx="1881198" cy="311210"/>
          </a:xfrm>
        </p:grpSpPr>
        <p:sp>
          <p:nvSpPr>
            <p:cNvPr name="Freeform 12" id="12"/>
            <p:cNvSpPr/>
            <p:nvPr/>
          </p:nvSpPr>
          <p:spPr>
            <a:xfrm flipH="false" flipV="false" rot="0">
              <a:off x="0" y="0"/>
              <a:ext cx="1881198" cy="311210"/>
            </a:xfrm>
            <a:custGeom>
              <a:avLst/>
              <a:gdLst/>
              <a:ahLst/>
              <a:cxnLst/>
              <a:rect r="r" b="b" t="t" l="l"/>
              <a:pathLst>
                <a:path h="311210" w="1881198">
                  <a:moveTo>
                    <a:pt x="0" y="0"/>
                  </a:moveTo>
                  <a:lnTo>
                    <a:pt x="1881198" y="0"/>
                  </a:lnTo>
                  <a:lnTo>
                    <a:pt x="1881198" y="311210"/>
                  </a:lnTo>
                  <a:lnTo>
                    <a:pt x="0" y="311210"/>
                  </a:lnTo>
                  <a:close/>
                </a:path>
              </a:pathLst>
            </a:custGeom>
            <a:solidFill>
              <a:srgbClr val="BD3414"/>
            </a:solidFill>
          </p:spPr>
        </p:sp>
        <p:sp>
          <p:nvSpPr>
            <p:cNvPr name="TextBox 13" id="13"/>
            <p:cNvSpPr txBox="true"/>
            <p:nvPr/>
          </p:nvSpPr>
          <p:spPr>
            <a:xfrm>
              <a:off x="0" y="-57150"/>
              <a:ext cx="1881198" cy="368360"/>
            </a:xfrm>
            <a:prstGeom prst="rect">
              <a:avLst/>
            </a:prstGeom>
          </p:spPr>
          <p:txBody>
            <a:bodyPr anchor="ctr" rtlCol="false" tIns="50800" lIns="50800" bIns="50800" rIns="50800"/>
            <a:lstStyle/>
            <a:p>
              <a:pPr algn="ctr">
                <a:lnSpc>
                  <a:spcPts val="2939"/>
                </a:lnSpc>
              </a:pPr>
            </a:p>
          </p:txBody>
        </p:sp>
      </p:grpSp>
      <p:grpSp>
        <p:nvGrpSpPr>
          <p:cNvPr name="Group 14" id="14"/>
          <p:cNvGrpSpPr/>
          <p:nvPr/>
        </p:nvGrpSpPr>
        <p:grpSpPr>
          <a:xfrm rot="0">
            <a:off x="1082137" y="3179193"/>
            <a:ext cx="7391442" cy="1181626"/>
            <a:chOff x="0" y="0"/>
            <a:chExt cx="1946717" cy="311210"/>
          </a:xfrm>
        </p:grpSpPr>
        <p:sp>
          <p:nvSpPr>
            <p:cNvPr name="Freeform 15" id="15"/>
            <p:cNvSpPr/>
            <p:nvPr/>
          </p:nvSpPr>
          <p:spPr>
            <a:xfrm flipH="false" flipV="false" rot="0">
              <a:off x="0" y="0"/>
              <a:ext cx="1946717" cy="311210"/>
            </a:xfrm>
            <a:custGeom>
              <a:avLst/>
              <a:gdLst/>
              <a:ahLst/>
              <a:cxnLst/>
              <a:rect r="r" b="b" t="t" l="l"/>
              <a:pathLst>
                <a:path h="311210" w="1946717">
                  <a:moveTo>
                    <a:pt x="0" y="0"/>
                  </a:moveTo>
                  <a:lnTo>
                    <a:pt x="1946717" y="0"/>
                  </a:lnTo>
                  <a:lnTo>
                    <a:pt x="1946717" y="311210"/>
                  </a:lnTo>
                  <a:lnTo>
                    <a:pt x="0" y="311210"/>
                  </a:lnTo>
                  <a:close/>
                </a:path>
              </a:pathLst>
            </a:custGeom>
            <a:solidFill>
              <a:srgbClr val="BD3414"/>
            </a:solidFill>
          </p:spPr>
        </p:sp>
        <p:sp>
          <p:nvSpPr>
            <p:cNvPr name="TextBox 16" id="16"/>
            <p:cNvSpPr txBox="true"/>
            <p:nvPr/>
          </p:nvSpPr>
          <p:spPr>
            <a:xfrm>
              <a:off x="0" y="-57150"/>
              <a:ext cx="1946717" cy="368360"/>
            </a:xfrm>
            <a:prstGeom prst="rect">
              <a:avLst/>
            </a:prstGeom>
          </p:spPr>
          <p:txBody>
            <a:bodyPr anchor="ctr" rtlCol="false" tIns="50800" lIns="50800" bIns="50800" rIns="50800"/>
            <a:lstStyle/>
            <a:p>
              <a:pPr algn="ctr">
                <a:lnSpc>
                  <a:spcPts val="2939"/>
                </a:lnSpc>
              </a:pPr>
            </a:p>
          </p:txBody>
        </p:sp>
      </p:grpSp>
      <p:sp>
        <p:nvSpPr>
          <p:cNvPr name="Freeform 17" id="17"/>
          <p:cNvSpPr/>
          <p:nvPr/>
        </p:nvSpPr>
        <p:spPr>
          <a:xfrm flipH="false" flipV="false" rot="0">
            <a:off x="0" y="9428007"/>
            <a:ext cx="2361492" cy="858993"/>
          </a:xfrm>
          <a:custGeom>
            <a:avLst/>
            <a:gdLst/>
            <a:ahLst/>
            <a:cxnLst/>
            <a:rect r="r" b="b" t="t" l="l"/>
            <a:pathLst>
              <a:path h="858993" w="2361492">
                <a:moveTo>
                  <a:pt x="0" y="0"/>
                </a:moveTo>
                <a:lnTo>
                  <a:pt x="2361492" y="0"/>
                </a:lnTo>
                <a:lnTo>
                  <a:pt x="2361492" y="858993"/>
                </a:lnTo>
                <a:lnTo>
                  <a:pt x="0" y="85899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8" id="18"/>
          <p:cNvSpPr/>
          <p:nvPr/>
        </p:nvSpPr>
        <p:spPr>
          <a:xfrm flipH="false" flipV="false" rot="0">
            <a:off x="2037362" y="9428007"/>
            <a:ext cx="2361492" cy="858993"/>
          </a:xfrm>
          <a:custGeom>
            <a:avLst/>
            <a:gdLst/>
            <a:ahLst/>
            <a:cxnLst/>
            <a:rect r="r" b="b" t="t" l="l"/>
            <a:pathLst>
              <a:path h="858993" w="2361492">
                <a:moveTo>
                  <a:pt x="0" y="0"/>
                </a:moveTo>
                <a:lnTo>
                  <a:pt x="2361492" y="0"/>
                </a:lnTo>
                <a:lnTo>
                  <a:pt x="2361492" y="858993"/>
                </a:lnTo>
                <a:lnTo>
                  <a:pt x="0" y="85899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9" id="19"/>
          <p:cNvSpPr txBox="true"/>
          <p:nvPr/>
        </p:nvSpPr>
        <p:spPr>
          <a:xfrm rot="0">
            <a:off x="1028700" y="451785"/>
            <a:ext cx="13638383" cy="985469"/>
          </a:xfrm>
          <a:prstGeom prst="rect">
            <a:avLst/>
          </a:prstGeom>
        </p:spPr>
        <p:txBody>
          <a:bodyPr anchor="t" rtlCol="false" tIns="0" lIns="0" bIns="0" rIns="0">
            <a:spAutoFit/>
          </a:bodyPr>
          <a:lstStyle/>
          <a:p>
            <a:pPr algn="l" marL="0" indent="0" lvl="0">
              <a:lnSpc>
                <a:spcPts val="7695"/>
              </a:lnSpc>
            </a:pPr>
            <a:r>
              <a:rPr lang="en-US" sz="6691">
                <a:solidFill>
                  <a:srgbClr val="BD3414"/>
                </a:solidFill>
                <a:latin typeface="Archivo Black"/>
                <a:ea typeface="Archivo Black"/>
                <a:cs typeface="Archivo Black"/>
                <a:sym typeface="Archivo Black"/>
              </a:rPr>
              <a:t>Stakeholders</a:t>
            </a:r>
          </a:p>
        </p:txBody>
      </p:sp>
      <p:sp>
        <p:nvSpPr>
          <p:cNvPr name="TextBox 20" id="20"/>
          <p:cNvSpPr txBox="true"/>
          <p:nvPr/>
        </p:nvSpPr>
        <p:spPr>
          <a:xfrm rot="0">
            <a:off x="11651887" y="3603635"/>
            <a:ext cx="4143446" cy="548227"/>
          </a:xfrm>
          <a:prstGeom prst="rect">
            <a:avLst/>
          </a:prstGeom>
        </p:spPr>
        <p:txBody>
          <a:bodyPr anchor="t" rtlCol="false" tIns="0" lIns="0" bIns="0" rIns="0">
            <a:spAutoFit/>
          </a:bodyPr>
          <a:lstStyle/>
          <a:p>
            <a:pPr algn="l" marL="683594" indent="-341797" lvl="1">
              <a:lnSpc>
                <a:spcPts val="4432"/>
              </a:lnSpc>
              <a:buAutoNum type="arabicPeriod" startAt="1"/>
            </a:pPr>
            <a:r>
              <a:rPr lang="en-US" b="true" sz="3166" spc="316">
                <a:solidFill>
                  <a:srgbClr val="FFFFFF"/>
                </a:solidFill>
                <a:latin typeface="Quicksand Bold"/>
                <a:ea typeface="Quicksand Bold"/>
                <a:cs typeface="Quicksand Bold"/>
                <a:sym typeface="Quicksand Bold"/>
              </a:rPr>
              <a:t>Investors</a:t>
            </a:r>
          </a:p>
        </p:txBody>
      </p:sp>
      <p:sp>
        <p:nvSpPr>
          <p:cNvPr name="TextBox 21" id="21"/>
          <p:cNvSpPr txBox="true"/>
          <p:nvPr/>
        </p:nvSpPr>
        <p:spPr>
          <a:xfrm rot="0">
            <a:off x="1256124" y="3587858"/>
            <a:ext cx="7043469" cy="548227"/>
          </a:xfrm>
          <a:prstGeom prst="rect">
            <a:avLst/>
          </a:prstGeom>
        </p:spPr>
        <p:txBody>
          <a:bodyPr anchor="t" rtlCol="false" tIns="0" lIns="0" bIns="0" rIns="0">
            <a:spAutoFit/>
          </a:bodyPr>
          <a:lstStyle/>
          <a:p>
            <a:pPr algn="l" marL="683594" indent="-341797" lvl="1">
              <a:lnSpc>
                <a:spcPts val="4432"/>
              </a:lnSpc>
              <a:buAutoNum type="arabicPeriod" startAt="1"/>
            </a:pPr>
            <a:r>
              <a:rPr lang="en-US" b="true" sz="3166" spc="316">
                <a:solidFill>
                  <a:srgbClr val="FFFFFF"/>
                </a:solidFill>
                <a:latin typeface="Quicksand Bold"/>
                <a:ea typeface="Quicksand Bold"/>
                <a:cs typeface="Quicksand Bold"/>
                <a:sym typeface="Quicksand Bold"/>
              </a:rPr>
              <a:t>Corporate Communications</a:t>
            </a:r>
          </a:p>
        </p:txBody>
      </p:sp>
      <p:sp>
        <p:nvSpPr>
          <p:cNvPr name="TextBox 22" id="22"/>
          <p:cNvSpPr txBox="true"/>
          <p:nvPr/>
        </p:nvSpPr>
        <p:spPr>
          <a:xfrm rot="0">
            <a:off x="9807222" y="4683137"/>
            <a:ext cx="7142674" cy="2978474"/>
          </a:xfrm>
          <a:prstGeom prst="rect">
            <a:avLst/>
          </a:prstGeom>
        </p:spPr>
        <p:txBody>
          <a:bodyPr anchor="t" rtlCol="false" tIns="0" lIns="0" bIns="0" rIns="0">
            <a:spAutoFit/>
          </a:bodyPr>
          <a:lstStyle/>
          <a:p>
            <a:pPr algn="l">
              <a:lnSpc>
                <a:spcPts val="2933"/>
              </a:lnSpc>
              <a:spcBef>
                <a:spcPct val="0"/>
              </a:spcBef>
            </a:pPr>
            <a:r>
              <a:rPr lang="en-US" sz="2550" spc="127">
                <a:solidFill>
                  <a:srgbClr val="000000"/>
                </a:solidFill>
                <a:latin typeface="Quicksand"/>
                <a:ea typeface="Quicksand"/>
                <a:cs typeface="Quicksand"/>
                <a:sym typeface="Quicksand"/>
              </a:rPr>
              <a:t>Investors can use the model's output to track brand sentiment trends over time, giving them an early signal on public perception of Apple and Google products. Shifts in sentiment, especially around major product launches or controversies, can inform investment decisions and risk assessments.</a:t>
            </a:r>
          </a:p>
        </p:txBody>
      </p:sp>
      <p:sp>
        <p:nvSpPr>
          <p:cNvPr name="TextBox 23" id="23"/>
          <p:cNvSpPr txBox="true"/>
          <p:nvPr/>
        </p:nvSpPr>
        <p:spPr>
          <a:xfrm rot="0">
            <a:off x="1267071" y="4542057"/>
            <a:ext cx="7206508" cy="2606999"/>
          </a:xfrm>
          <a:prstGeom prst="rect">
            <a:avLst/>
          </a:prstGeom>
        </p:spPr>
        <p:txBody>
          <a:bodyPr anchor="t" rtlCol="false" tIns="0" lIns="0" bIns="0" rIns="0">
            <a:spAutoFit/>
          </a:bodyPr>
          <a:lstStyle/>
          <a:p>
            <a:pPr algn="l">
              <a:lnSpc>
                <a:spcPts val="2933"/>
              </a:lnSpc>
              <a:spcBef>
                <a:spcPct val="0"/>
              </a:spcBef>
            </a:pPr>
            <a:r>
              <a:rPr lang="en-US" sz="2550" spc="127">
                <a:solidFill>
                  <a:srgbClr val="000000"/>
                </a:solidFill>
                <a:latin typeface="Quicksand"/>
                <a:ea typeface="Quicksand"/>
                <a:cs typeface="Quicksand"/>
                <a:sym typeface="Quicksand"/>
              </a:rPr>
              <a:t>This group oversees brand reputation and public perception. Before it becomes a news story, automated sentiment classification provides them with early warning when negative sentiment surrounding a product or event is growing, so they are able to take action</a:t>
            </a:r>
          </a:p>
        </p:txBody>
      </p:sp>
      <p:sp>
        <p:nvSpPr>
          <p:cNvPr name="Freeform 24" id="24"/>
          <p:cNvSpPr/>
          <p:nvPr/>
        </p:nvSpPr>
        <p:spPr>
          <a:xfrm flipH="false" flipV="false" rot="0">
            <a:off x="4074725" y="9428007"/>
            <a:ext cx="2361492" cy="858993"/>
          </a:xfrm>
          <a:custGeom>
            <a:avLst/>
            <a:gdLst/>
            <a:ahLst/>
            <a:cxnLst/>
            <a:rect r="r" b="b" t="t" l="l"/>
            <a:pathLst>
              <a:path h="858993" w="2361492">
                <a:moveTo>
                  <a:pt x="0" y="0"/>
                </a:moveTo>
                <a:lnTo>
                  <a:pt x="2361492" y="0"/>
                </a:lnTo>
                <a:lnTo>
                  <a:pt x="2361492" y="858993"/>
                </a:lnTo>
                <a:lnTo>
                  <a:pt x="0" y="85899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25" id="25"/>
          <p:cNvSpPr/>
          <p:nvPr/>
        </p:nvSpPr>
        <p:spPr>
          <a:xfrm flipH="false" flipV="false" rot="0">
            <a:off x="6112087" y="9428007"/>
            <a:ext cx="2361492" cy="858993"/>
          </a:xfrm>
          <a:custGeom>
            <a:avLst/>
            <a:gdLst/>
            <a:ahLst/>
            <a:cxnLst/>
            <a:rect r="r" b="b" t="t" l="l"/>
            <a:pathLst>
              <a:path h="858993" w="2361492">
                <a:moveTo>
                  <a:pt x="0" y="0"/>
                </a:moveTo>
                <a:lnTo>
                  <a:pt x="2361492" y="0"/>
                </a:lnTo>
                <a:lnTo>
                  <a:pt x="2361492" y="858993"/>
                </a:lnTo>
                <a:lnTo>
                  <a:pt x="0" y="85899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26" id="26"/>
          <p:cNvSpPr/>
          <p:nvPr/>
        </p:nvSpPr>
        <p:spPr>
          <a:xfrm flipH="false" flipV="false" rot="0">
            <a:off x="8149450" y="9428007"/>
            <a:ext cx="2361492" cy="858993"/>
          </a:xfrm>
          <a:custGeom>
            <a:avLst/>
            <a:gdLst/>
            <a:ahLst/>
            <a:cxnLst/>
            <a:rect r="r" b="b" t="t" l="l"/>
            <a:pathLst>
              <a:path h="858993" w="2361492">
                <a:moveTo>
                  <a:pt x="0" y="0"/>
                </a:moveTo>
                <a:lnTo>
                  <a:pt x="2361492" y="0"/>
                </a:lnTo>
                <a:lnTo>
                  <a:pt x="2361492" y="858993"/>
                </a:lnTo>
                <a:lnTo>
                  <a:pt x="0" y="85899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27" id="27"/>
          <p:cNvSpPr/>
          <p:nvPr/>
        </p:nvSpPr>
        <p:spPr>
          <a:xfrm flipH="false" flipV="false" rot="0">
            <a:off x="10186812" y="9428007"/>
            <a:ext cx="2361492" cy="858993"/>
          </a:xfrm>
          <a:custGeom>
            <a:avLst/>
            <a:gdLst/>
            <a:ahLst/>
            <a:cxnLst/>
            <a:rect r="r" b="b" t="t" l="l"/>
            <a:pathLst>
              <a:path h="858993" w="2361492">
                <a:moveTo>
                  <a:pt x="0" y="0"/>
                </a:moveTo>
                <a:lnTo>
                  <a:pt x="2361492" y="0"/>
                </a:lnTo>
                <a:lnTo>
                  <a:pt x="2361492" y="858993"/>
                </a:lnTo>
                <a:lnTo>
                  <a:pt x="0" y="85899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28" id="28"/>
          <p:cNvSpPr/>
          <p:nvPr/>
        </p:nvSpPr>
        <p:spPr>
          <a:xfrm flipH="false" flipV="false" rot="0">
            <a:off x="12224175" y="9428007"/>
            <a:ext cx="2361492" cy="858993"/>
          </a:xfrm>
          <a:custGeom>
            <a:avLst/>
            <a:gdLst/>
            <a:ahLst/>
            <a:cxnLst/>
            <a:rect r="r" b="b" t="t" l="l"/>
            <a:pathLst>
              <a:path h="858993" w="2361492">
                <a:moveTo>
                  <a:pt x="0" y="0"/>
                </a:moveTo>
                <a:lnTo>
                  <a:pt x="2361492" y="0"/>
                </a:lnTo>
                <a:lnTo>
                  <a:pt x="2361492" y="858993"/>
                </a:lnTo>
                <a:lnTo>
                  <a:pt x="0" y="85899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29" id="29"/>
          <p:cNvSpPr/>
          <p:nvPr/>
        </p:nvSpPr>
        <p:spPr>
          <a:xfrm flipH="false" flipV="false" rot="0">
            <a:off x="14261537" y="9428007"/>
            <a:ext cx="2361492" cy="858993"/>
          </a:xfrm>
          <a:custGeom>
            <a:avLst/>
            <a:gdLst/>
            <a:ahLst/>
            <a:cxnLst/>
            <a:rect r="r" b="b" t="t" l="l"/>
            <a:pathLst>
              <a:path h="858993" w="2361492">
                <a:moveTo>
                  <a:pt x="0" y="0"/>
                </a:moveTo>
                <a:lnTo>
                  <a:pt x="2361492" y="0"/>
                </a:lnTo>
                <a:lnTo>
                  <a:pt x="2361492" y="858993"/>
                </a:lnTo>
                <a:lnTo>
                  <a:pt x="0" y="85899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30" id="30"/>
          <p:cNvSpPr/>
          <p:nvPr/>
        </p:nvSpPr>
        <p:spPr>
          <a:xfrm flipH="false" flipV="false" rot="0">
            <a:off x="16298900" y="9428007"/>
            <a:ext cx="2361492" cy="858993"/>
          </a:xfrm>
          <a:custGeom>
            <a:avLst/>
            <a:gdLst/>
            <a:ahLst/>
            <a:cxnLst/>
            <a:rect r="r" b="b" t="t" l="l"/>
            <a:pathLst>
              <a:path h="858993" w="2361492">
                <a:moveTo>
                  <a:pt x="0" y="0"/>
                </a:moveTo>
                <a:lnTo>
                  <a:pt x="2361492" y="0"/>
                </a:lnTo>
                <a:lnTo>
                  <a:pt x="2361492" y="858993"/>
                </a:lnTo>
                <a:lnTo>
                  <a:pt x="0" y="85899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31" id="31"/>
          <p:cNvSpPr/>
          <p:nvPr/>
        </p:nvSpPr>
        <p:spPr>
          <a:xfrm flipH="false" flipV="false" rot="0">
            <a:off x="16301123" y="808186"/>
            <a:ext cx="1297547" cy="1297547"/>
          </a:xfrm>
          <a:custGeom>
            <a:avLst/>
            <a:gdLst/>
            <a:ahLst/>
            <a:cxnLst/>
            <a:rect r="r" b="b" t="t" l="l"/>
            <a:pathLst>
              <a:path h="1297547" w="1297547">
                <a:moveTo>
                  <a:pt x="0" y="0"/>
                </a:moveTo>
                <a:lnTo>
                  <a:pt x="1297547" y="0"/>
                </a:lnTo>
                <a:lnTo>
                  <a:pt x="1297547" y="1297548"/>
                </a:lnTo>
                <a:lnTo>
                  <a:pt x="0" y="129754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EBDBCC"/>
        </a:solidFill>
      </p:bgPr>
    </p:bg>
    <p:spTree>
      <p:nvGrpSpPr>
        <p:cNvPr id="1" name=""/>
        <p:cNvGrpSpPr/>
        <p:nvPr/>
      </p:nvGrpSpPr>
      <p:grpSpPr>
        <a:xfrm>
          <a:off x="0" y="0"/>
          <a:ext cx="0" cy="0"/>
          <a:chOff x="0" y="0"/>
          <a:chExt cx="0" cy="0"/>
        </a:xfrm>
      </p:grpSpPr>
      <p:sp>
        <p:nvSpPr>
          <p:cNvPr name="Freeform 2" id="2"/>
          <p:cNvSpPr/>
          <p:nvPr/>
        </p:nvSpPr>
        <p:spPr>
          <a:xfrm flipH="false" flipV="false" rot="0">
            <a:off x="9805201" y="-310926"/>
            <a:ext cx="11700697" cy="11700697"/>
          </a:xfrm>
          <a:custGeom>
            <a:avLst/>
            <a:gdLst/>
            <a:ahLst/>
            <a:cxnLst/>
            <a:rect r="r" b="b" t="t" l="l"/>
            <a:pathLst>
              <a:path h="11700697" w="11700697">
                <a:moveTo>
                  <a:pt x="0" y="0"/>
                </a:moveTo>
                <a:lnTo>
                  <a:pt x="11700697" y="0"/>
                </a:lnTo>
                <a:lnTo>
                  <a:pt x="11700697" y="11700697"/>
                </a:lnTo>
                <a:lnTo>
                  <a:pt x="0" y="11700697"/>
                </a:lnTo>
                <a:lnTo>
                  <a:pt x="0" y="0"/>
                </a:lnTo>
                <a:close/>
              </a:path>
            </a:pathLst>
          </a:custGeom>
          <a:blipFill>
            <a:blip r:embed="rId2">
              <a:alphaModFix amt="18000"/>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7969340" y="6607683"/>
            <a:ext cx="9289960" cy="2650617"/>
            <a:chOff x="0" y="0"/>
            <a:chExt cx="2446738" cy="698105"/>
          </a:xfrm>
        </p:grpSpPr>
        <p:sp>
          <p:nvSpPr>
            <p:cNvPr name="Freeform 4" id="4"/>
            <p:cNvSpPr/>
            <p:nvPr/>
          </p:nvSpPr>
          <p:spPr>
            <a:xfrm flipH="false" flipV="false" rot="0">
              <a:off x="0" y="0"/>
              <a:ext cx="2446738" cy="698105"/>
            </a:xfrm>
            <a:custGeom>
              <a:avLst/>
              <a:gdLst/>
              <a:ahLst/>
              <a:cxnLst/>
              <a:rect r="r" b="b" t="t" l="l"/>
              <a:pathLst>
                <a:path h="698105" w="2446738">
                  <a:moveTo>
                    <a:pt x="0" y="0"/>
                  </a:moveTo>
                  <a:lnTo>
                    <a:pt x="2446738" y="0"/>
                  </a:lnTo>
                  <a:lnTo>
                    <a:pt x="2446738" y="698105"/>
                  </a:lnTo>
                  <a:lnTo>
                    <a:pt x="0" y="698105"/>
                  </a:lnTo>
                  <a:close/>
                </a:path>
              </a:pathLst>
            </a:custGeom>
            <a:solidFill>
              <a:srgbClr val="B46B00"/>
            </a:solidFill>
          </p:spPr>
        </p:sp>
        <p:sp>
          <p:nvSpPr>
            <p:cNvPr name="TextBox 5" id="5"/>
            <p:cNvSpPr txBox="true"/>
            <p:nvPr/>
          </p:nvSpPr>
          <p:spPr>
            <a:xfrm>
              <a:off x="0" y="-57150"/>
              <a:ext cx="2446738" cy="755255"/>
            </a:xfrm>
            <a:prstGeom prst="rect">
              <a:avLst/>
            </a:prstGeom>
          </p:spPr>
          <p:txBody>
            <a:bodyPr anchor="ctr" rtlCol="false" tIns="50800" lIns="50800" bIns="50800" rIns="50800"/>
            <a:lstStyle/>
            <a:p>
              <a:pPr algn="ctr">
                <a:lnSpc>
                  <a:spcPts val="2939"/>
                </a:lnSpc>
              </a:pPr>
            </a:p>
          </p:txBody>
        </p:sp>
      </p:grpSp>
      <p:grpSp>
        <p:nvGrpSpPr>
          <p:cNvPr name="Group 6" id="6"/>
          <p:cNvGrpSpPr/>
          <p:nvPr/>
        </p:nvGrpSpPr>
        <p:grpSpPr>
          <a:xfrm rot="0">
            <a:off x="1028700" y="6607683"/>
            <a:ext cx="8115300" cy="2650617"/>
            <a:chOff x="0" y="0"/>
            <a:chExt cx="2137363" cy="698105"/>
          </a:xfrm>
        </p:grpSpPr>
        <p:sp>
          <p:nvSpPr>
            <p:cNvPr name="Freeform 7" id="7"/>
            <p:cNvSpPr/>
            <p:nvPr/>
          </p:nvSpPr>
          <p:spPr>
            <a:xfrm flipH="false" flipV="false" rot="0">
              <a:off x="0" y="0"/>
              <a:ext cx="2137363" cy="698105"/>
            </a:xfrm>
            <a:custGeom>
              <a:avLst/>
              <a:gdLst/>
              <a:ahLst/>
              <a:cxnLst/>
              <a:rect r="r" b="b" t="t" l="l"/>
              <a:pathLst>
                <a:path h="698105" w="2137363">
                  <a:moveTo>
                    <a:pt x="47700" y="0"/>
                  </a:moveTo>
                  <a:lnTo>
                    <a:pt x="2089663" y="0"/>
                  </a:lnTo>
                  <a:cubicBezTo>
                    <a:pt x="2102314" y="0"/>
                    <a:pt x="2114447" y="5025"/>
                    <a:pt x="2123392" y="13971"/>
                  </a:cubicBezTo>
                  <a:cubicBezTo>
                    <a:pt x="2132337" y="22916"/>
                    <a:pt x="2137363" y="35049"/>
                    <a:pt x="2137363" y="47700"/>
                  </a:cubicBezTo>
                  <a:lnTo>
                    <a:pt x="2137363" y="650405"/>
                  </a:lnTo>
                  <a:cubicBezTo>
                    <a:pt x="2137363" y="663056"/>
                    <a:pt x="2132337" y="675188"/>
                    <a:pt x="2123392" y="684134"/>
                  </a:cubicBezTo>
                  <a:cubicBezTo>
                    <a:pt x="2114447" y="693079"/>
                    <a:pt x="2102314" y="698105"/>
                    <a:pt x="2089663" y="698105"/>
                  </a:cubicBezTo>
                  <a:lnTo>
                    <a:pt x="47700" y="698105"/>
                  </a:lnTo>
                  <a:cubicBezTo>
                    <a:pt x="35049" y="698105"/>
                    <a:pt x="22916" y="693079"/>
                    <a:pt x="13971" y="684134"/>
                  </a:cubicBezTo>
                  <a:cubicBezTo>
                    <a:pt x="5025" y="675188"/>
                    <a:pt x="0" y="663056"/>
                    <a:pt x="0" y="650405"/>
                  </a:cubicBezTo>
                  <a:lnTo>
                    <a:pt x="0" y="47700"/>
                  </a:lnTo>
                  <a:cubicBezTo>
                    <a:pt x="0" y="35049"/>
                    <a:pt x="5025" y="22916"/>
                    <a:pt x="13971" y="13971"/>
                  </a:cubicBezTo>
                  <a:cubicBezTo>
                    <a:pt x="22916" y="5025"/>
                    <a:pt x="35049" y="0"/>
                    <a:pt x="47700" y="0"/>
                  </a:cubicBezTo>
                  <a:close/>
                </a:path>
              </a:pathLst>
            </a:custGeom>
            <a:solidFill>
              <a:srgbClr val="F6D7A5"/>
            </a:solidFill>
          </p:spPr>
        </p:sp>
        <p:sp>
          <p:nvSpPr>
            <p:cNvPr name="TextBox 8" id="8"/>
            <p:cNvSpPr txBox="true"/>
            <p:nvPr/>
          </p:nvSpPr>
          <p:spPr>
            <a:xfrm>
              <a:off x="0" y="-57150"/>
              <a:ext cx="2137363" cy="755255"/>
            </a:xfrm>
            <a:prstGeom prst="rect">
              <a:avLst/>
            </a:prstGeom>
          </p:spPr>
          <p:txBody>
            <a:bodyPr anchor="ctr" rtlCol="false" tIns="50800" lIns="50800" bIns="50800" rIns="50800"/>
            <a:lstStyle/>
            <a:p>
              <a:pPr algn="ctr">
                <a:lnSpc>
                  <a:spcPts val="2939"/>
                </a:lnSpc>
              </a:pPr>
            </a:p>
          </p:txBody>
        </p:sp>
      </p:grpSp>
      <p:sp>
        <p:nvSpPr>
          <p:cNvPr name="Freeform 9" id="9"/>
          <p:cNvSpPr/>
          <p:nvPr/>
        </p:nvSpPr>
        <p:spPr>
          <a:xfrm flipH="false" flipV="false" rot="0">
            <a:off x="-1553637" y="118560"/>
            <a:ext cx="3677334" cy="910140"/>
          </a:xfrm>
          <a:custGeom>
            <a:avLst/>
            <a:gdLst/>
            <a:ahLst/>
            <a:cxnLst/>
            <a:rect r="r" b="b" t="t" l="l"/>
            <a:pathLst>
              <a:path h="910140" w="3677334">
                <a:moveTo>
                  <a:pt x="0" y="0"/>
                </a:moveTo>
                <a:lnTo>
                  <a:pt x="3677334" y="0"/>
                </a:lnTo>
                <a:lnTo>
                  <a:pt x="3677334" y="910140"/>
                </a:lnTo>
                <a:lnTo>
                  <a:pt x="0" y="91014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0" id="10"/>
          <p:cNvSpPr txBox="true"/>
          <p:nvPr/>
        </p:nvSpPr>
        <p:spPr>
          <a:xfrm rot="0">
            <a:off x="9623500" y="7050398"/>
            <a:ext cx="7465952" cy="1984375"/>
          </a:xfrm>
          <a:prstGeom prst="rect">
            <a:avLst/>
          </a:prstGeom>
        </p:spPr>
        <p:txBody>
          <a:bodyPr anchor="t" rtlCol="false" tIns="0" lIns="0" bIns="0" rIns="0">
            <a:spAutoFit/>
          </a:bodyPr>
          <a:lstStyle/>
          <a:p>
            <a:pPr algn="l" marL="431801" indent="-215900" lvl="1">
              <a:lnSpc>
                <a:spcPts val="3200"/>
              </a:lnSpc>
              <a:buFont typeface="Arial"/>
              <a:buChar char="•"/>
            </a:pPr>
            <a:r>
              <a:rPr lang="en-US" sz="2000" spc="100">
                <a:solidFill>
                  <a:srgbClr val="FFFFFF"/>
                </a:solidFill>
                <a:latin typeface="Quicksand"/>
                <a:ea typeface="Quicksand"/>
                <a:cs typeface="Quicksand"/>
                <a:sym typeface="Quicksand"/>
              </a:rPr>
              <a:t>High performance</a:t>
            </a:r>
            <a:r>
              <a:rPr lang="en-US" sz="2000" spc="100">
                <a:solidFill>
                  <a:srgbClr val="FFFFFF"/>
                </a:solidFill>
                <a:latin typeface="Quicksand"/>
                <a:ea typeface="Quicksand"/>
                <a:cs typeface="Quicksand"/>
                <a:sym typeface="Quicksand"/>
              </a:rPr>
              <a:t>: Consistently achieves strong results in text classification tasks</a:t>
            </a:r>
          </a:p>
          <a:p>
            <a:pPr algn="l" marL="431801" indent="-215900" lvl="1">
              <a:lnSpc>
                <a:spcPts val="3200"/>
              </a:lnSpc>
              <a:buFont typeface="Arial"/>
              <a:buChar char="•"/>
            </a:pPr>
            <a:r>
              <a:rPr lang="en-US" sz="2000" spc="100">
                <a:solidFill>
                  <a:srgbClr val="FFFFFF"/>
                </a:solidFill>
                <a:latin typeface="Quicksand"/>
                <a:ea typeface="Quicksand"/>
                <a:cs typeface="Quicksand"/>
                <a:sym typeface="Quicksand"/>
              </a:rPr>
              <a:t>Feature importance: Provides interpretability through feature importance scores</a:t>
            </a:r>
          </a:p>
          <a:p>
            <a:pPr algn="ctr">
              <a:lnSpc>
                <a:spcPts val="3200"/>
              </a:lnSpc>
            </a:pPr>
          </a:p>
        </p:txBody>
      </p:sp>
      <p:sp>
        <p:nvSpPr>
          <p:cNvPr name="Freeform 11" id="11"/>
          <p:cNvSpPr/>
          <p:nvPr/>
        </p:nvSpPr>
        <p:spPr>
          <a:xfrm flipH="false" flipV="false" rot="0">
            <a:off x="16654773" y="8653773"/>
            <a:ext cx="1209054" cy="1209054"/>
          </a:xfrm>
          <a:custGeom>
            <a:avLst/>
            <a:gdLst/>
            <a:ahLst/>
            <a:cxnLst/>
            <a:rect r="r" b="b" t="t" l="l"/>
            <a:pathLst>
              <a:path h="1209054" w="1209054">
                <a:moveTo>
                  <a:pt x="0" y="0"/>
                </a:moveTo>
                <a:lnTo>
                  <a:pt x="1209054" y="0"/>
                </a:lnTo>
                <a:lnTo>
                  <a:pt x="1209054" y="1209054"/>
                </a:lnTo>
                <a:lnTo>
                  <a:pt x="0" y="120905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2" id="12"/>
          <p:cNvSpPr/>
          <p:nvPr/>
        </p:nvSpPr>
        <p:spPr>
          <a:xfrm flipH="false" flipV="false" rot="0">
            <a:off x="424173" y="8653773"/>
            <a:ext cx="1209054" cy="1209054"/>
          </a:xfrm>
          <a:custGeom>
            <a:avLst/>
            <a:gdLst/>
            <a:ahLst/>
            <a:cxnLst/>
            <a:rect r="r" b="b" t="t" l="l"/>
            <a:pathLst>
              <a:path h="1209054" w="1209054">
                <a:moveTo>
                  <a:pt x="0" y="0"/>
                </a:moveTo>
                <a:lnTo>
                  <a:pt x="1209054" y="0"/>
                </a:lnTo>
                <a:lnTo>
                  <a:pt x="1209054" y="1209054"/>
                </a:lnTo>
                <a:lnTo>
                  <a:pt x="0" y="120905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3" id="13"/>
          <p:cNvSpPr/>
          <p:nvPr/>
        </p:nvSpPr>
        <p:spPr>
          <a:xfrm flipH="false" flipV="false" rot="0">
            <a:off x="17089452" y="141160"/>
            <a:ext cx="1057026" cy="1057026"/>
          </a:xfrm>
          <a:custGeom>
            <a:avLst/>
            <a:gdLst/>
            <a:ahLst/>
            <a:cxnLst/>
            <a:rect r="r" b="b" t="t" l="l"/>
            <a:pathLst>
              <a:path h="1057026" w="1057026">
                <a:moveTo>
                  <a:pt x="0" y="0"/>
                </a:moveTo>
                <a:lnTo>
                  <a:pt x="1057026" y="0"/>
                </a:lnTo>
                <a:lnTo>
                  <a:pt x="1057026" y="1057026"/>
                </a:lnTo>
                <a:lnTo>
                  <a:pt x="0" y="1057026"/>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grpSp>
        <p:nvGrpSpPr>
          <p:cNvPr name="Group 14" id="14"/>
          <p:cNvGrpSpPr/>
          <p:nvPr/>
        </p:nvGrpSpPr>
        <p:grpSpPr>
          <a:xfrm rot="0">
            <a:off x="730179" y="3793331"/>
            <a:ext cx="16529121" cy="2459236"/>
            <a:chOff x="0" y="0"/>
            <a:chExt cx="4353349" cy="647700"/>
          </a:xfrm>
        </p:grpSpPr>
        <p:sp>
          <p:nvSpPr>
            <p:cNvPr name="Freeform 15" id="15"/>
            <p:cNvSpPr/>
            <p:nvPr/>
          </p:nvSpPr>
          <p:spPr>
            <a:xfrm flipH="false" flipV="false" rot="0">
              <a:off x="0" y="0"/>
              <a:ext cx="4353349" cy="647700"/>
            </a:xfrm>
            <a:custGeom>
              <a:avLst/>
              <a:gdLst/>
              <a:ahLst/>
              <a:cxnLst/>
              <a:rect r="r" b="b" t="t" l="l"/>
              <a:pathLst>
                <a:path h="647700" w="4353349">
                  <a:moveTo>
                    <a:pt x="4010604" y="0"/>
                  </a:moveTo>
                  <a:lnTo>
                    <a:pt x="282407" y="0"/>
                  </a:lnTo>
                  <a:cubicBezTo>
                    <a:pt x="126426" y="0"/>
                    <a:pt x="0" y="123512"/>
                    <a:pt x="0" y="241300"/>
                  </a:cubicBezTo>
                  <a:cubicBezTo>
                    <a:pt x="0" y="322669"/>
                    <a:pt x="66279" y="417810"/>
                    <a:pt x="162037" y="461951"/>
                  </a:cubicBezTo>
                  <a:lnTo>
                    <a:pt x="162037" y="647700"/>
                  </a:lnTo>
                  <a:lnTo>
                    <a:pt x="353844" y="488232"/>
                  </a:lnTo>
                  <a:lnTo>
                    <a:pt x="4010604" y="488232"/>
                  </a:lnTo>
                  <a:cubicBezTo>
                    <a:pt x="4226911" y="488232"/>
                    <a:pt x="4353349" y="364720"/>
                    <a:pt x="4353349" y="241300"/>
                  </a:cubicBezTo>
                  <a:cubicBezTo>
                    <a:pt x="4353360" y="123512"/>
                    <a:pt x="4226911" y="0"/>
                    <a:pt x="4010604" y="0"/>
                  </a:cubicBezTo>
                  <a:close/>
                </a:path>
              </a:pathLst>
            </a:custGeom>
            <a:solidFill>
              <a:srgbClr val="B46B00"/>
            </a:solidFill>
          </p:spPr>
        </p:sp>
        <p:sp>
          <p:nvSpPr>
            <p:cNvPr name="TextBox 16" id="16"/>
            <p:cNvSpPr txBox="true"/>
            <p:nvPr/>
          </p:nvSpPr>
          <p:spPr>
            <a:xfrm>
              <a:off x="0" y="-28575"/>
              <a:ext cx="4353349" cy="485775"/>
            </a:xfrm>
            <a:prstGeom prst="rect">
              <a:avLst/>
            </a:prstGeom>
          </p:spPr>
          <p:txBody>
            <a:bodyPr anchor="ctr" rtlCol="false" tIns="50800" lIns="50800" bIns="50800" rIns="50800"/>
            <a:lstStyle/>
            <a:p>
              <a:pPr algn="ctr">
                <a:lnSpc>
                  <a:spcPts val="3380"/>
                </a:lnSpc>
              </a:pPr>
              <a:r>
                <a:rPr lang="en-US" b="true" sz="2299">
                  <a:solidFill>
                    <a:srgbClr val="000000"/>
                  </a:solidFill>
                  <a:latin typeface="Quicksand Bold"/>
                  <a:ea typeface="Quicksand Bold"/>
                  <a:cs typeface="Quicksand Bold"/>
                  <a:sym typeface="Quicksand Bold"/>
                </a:rPr>
                <a:t>Given the text classification nature of this problem, we selected </a:t>
              </a:r>
              <a:r>
                <a:rPr lang="en-US" b="true" sz="2299">
                  <a:solidFill>
                    <a:srgbClr val="000000"/>
                  </a:solidFill>
                  <a:latin typeface="Quicksand Bold"/>
                  <a:ea typeface="Quicksand Bold"/>
                  <a:cs typeface="Quicksand Bold"/>
                  <a:sym typeface="Quicksand Bold"/>
                </a:rPr>
                <a:t>XGBoost as our secondary primary model for several reasons: </a:t>
              </a:r>
            </a:p>
          </p:txBody>
        </p:sp>
      </p:grpSp>
      <p:sp>
        <p:nvSpPr>
          <p:cNvPr name="TextBox 17" id="17"/>
          <p:cNvSpPr txBox="true"/>
          <p:nvPr/>
        </p:nvSpPr>
        <p:spPr>
          <a:xfrm rot="0">
            <a:off x="5626500" y="470835"/>
            <a:ext cx="7035000" cy="1793702"/>
          </a:xfrm>
          <a:prstGeom prst="rect">
            <a:avLst/>
          </a:prstGeom>
        </p:spPr>
        <p:txBody>
          <a:bodyPr anchor="t" rtlCol="false" tIns="0" lIns="0" bIns="0" rIns="0">
            <a:spAutoFit/>
          </a:bodyPr>
          <a:lstStyle/>
          <a:p>
            <a:pPr algn="ctr" marL="0" indent="0" lvl="0">
              <a:lnSpc>
                <a:spcPts val="12650"/>
              </a:lnSpc>
            </a:pPr>
            <a:r>
              <a:rPr lang="en-US" sz="11000">
                <a:solidFill>
                  <a:srgbClr val="BD3414"/>
                </a:solidFill>
                <a:latin typeface="Archivo Black"/>
                <a:ea typeface="Archivo Black"/>
                <a:cs typeface="Archivo Black"/>
                <a:sym typeface="Archivo Black"/>
              </a:rPr>
              <a:t>Modeling</a:t>
            </a:r>
          </a:p>
        </p:txBody>
      </p:sp>
      <p:sp>
        <p:nvSpPr>
          <p:cNvPr name="TextBox 18" id="18"/>
          <p:cNvSpPr txBox="true"/>
          <p:nvPr/>
        </p:nvSpPr>
        <p:spPr>
          <a:xfrm rot="0">
            <a:off x="1353374" y="7050398"/>
            <a:ext cx="7465952" cy="2384425"/>
          </a:xfrm>
          <a:prstGeom prst="rect">
            <a:avLst/>
          </a:prstGeom>
        </p:spPr>
        <p:txBody>
          <a:bodyPr anchor="t" rtlCol="false" tIns="0" lIns="0" bIns="0" rIns="0">
            <a:spAutoFit/>
          </a:bodyPr>
          <a:lstStyle/>
          <a:p>
            <a:pPr algn="l" marL="431801" indent="-215900" lvl="1">
              <a:lnSpc>
                <a:spcPts val="3200"/>
              </a:lnSpc>
              <a:buFont typeface="Arial"/>
              <a:buChar char="•"/>
            </a:pPr>
            <a:r>
              <a:rPr lang="en-US" b="true" sz="2000" spc="100">
                <a:solidFill>
                  <a:srgbClr val="000000"/>
                </a:solidFill>
                <a:latin typeface="Quicksand Bold"/>
                <a:ea typeface="Quicksand Bold"/>
                <a:cs typeface="Quicksand Bold"/>
                <a:sym typeface="Quicksand Bold"/>
              </a:rPr>
              <a:t>Handles sparse data well: TF-IDF features produce sparse matrices, which XGBoost can process efficiently</a:t>
            </a:r>
          </a:p>
          <a:p>
            <a:pPr algn="l" marL="431801" indent="-215900" lvl="1">
              <a:lnSpc>
                <a:spcPts val="3200"/>
              </a:lnSpc>
              <a:buFont typeface="Arial"/>
              <a:buChar char="•"/>
            </a:pPr>
            <a:r>
              <a:rPr lang="en-US" b="true" sz="2000" spc="100">
                <a:solidFill>
                  <a:srgbClr val="000000"/>
                </a:solidFill>
                <a:latin typeface="Quicksand Bold"/>
                <a:ea typeface="Quicksand Bold"/>
                <a:cs typeface="Quicksand Bold"/>
                <a:sym typeface="Quicksand Bold"/>
              </a:rPr>
              <a:t>Robust to class imbalance: Built-in mechanisms to handle imbalanced datasets</a:t>
            </a:r>
          </a:p>
          <a:p>
            <a:pPr algn="r" marL="0" indent="0" lvl="0">
              <a:lnSpc>
                <a:spcPts val="3200"/>
              </a:lnSpc>
            </a:pPr>
          </a:p>
        </p:txBody>
      </p:sp>
      <p:sp>
        <p:nvSpPr>
          <p:cNvPr name="TextBox 19" id="19"/>
          <p:cNvSpPr txBox="true"/>
          <p:nvPr/>
        </p:nvSpPr>
        <p:spPr>
          <a:xfrm rot="0">
            <a:off x="730179" y="2150237"/>
            <a:ext cx="6322495" cy="1069394"/>
          </a:xfrm>
          <a:prstGeom prst="rect">
            <a:avLst/>
          </a:prstGeom>
        </p:spPr>
        <p:txBody>
          <a:bodyPr anchor="t" rtlCol="false" tIns="0" lIns="0" bIns="0" rIns="0">
            <a:spAutoFit/>
          </a:bodyPr>
          <a:lstStyle/>
          <a:p>
            <a:pPr algn="ctr">
              <a:lnSpc>
                <a:spcPts val="8780"/>
              </a:lnSpc>
            </a:pPr>
            <a:r>
              <a:rPr lang="en-US" sz="6272" b="true">
                <a:solidFill>
                  <a:srgbClr val="000000"/>
                </a:solidFill>
                <a:latin typeface="Canva Sans Bold"/>
                <a:ea typeface="Canva Sans Bold"/>
                <a:cs typeface="Canva Sans Bold"/>
                <a:sym typeface="Canva Sans Bold"/>
              </a:rPr>
              <a:t>Model Selection</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EBDBCC"/>
        </a:solidFill>
      </p:bgPr>
    </p:bg>
    <p:spTree>
      <p:nvGrpSpPr>
        <p:cNvPr id="1" name=""/>
        <p:cNvGrpSpPr/>
        <p:nvPr/>
      </p:nvGrpSpPr>
      <p:grpSpPr>
        <a:xfrm>
          <a:off x="0" y="0"/>
          <a:ext cx="0" cy="0"/>
          <a:chOff x="0" y="0"/>
          <a:chExt cx="0" cy="0"/>
        </a:xfrm>
      </p:grpSpPr>
      <p:sp>
        <p:nvSpPr>
          <p:cNvPr name="Freeform 2" id="2"/>
          <p:cNvSpPr/>
          <p:nvPr/>
        </p:nvSpPr>
        <p:spPr>
          <a:xfrm flipH="false" flipV="false" rot="0">
            <a:off x="-5923757" y="141160"/>
            <a:ext cx="11700697" cy="11700697"/>
          </a:xfrm>
          <a:custGeom>
            <a:avLst/>
            <a:gdLst/>
            <a:ahLst/>
            <a:cxnLst/>
            <a:rect r="r" b="b" t="t" l="l"/>
            <a:pathLst>
              <a:path h="11700697" w="11700697">
                <a:moveTo>
                  <a:pt x="0" y="0"/>
                </a:moveTo>
                <a:lnTo>
                  <a:pt x="11700697" y="0"/>
                </a:lnTo>
                <a:lnTo>
                  <a:pt x="11700697" y="11700697"/>
                </a:lnTo>
                <a:lnTo>
                  <a:pt x="0" y="11700697"/>
                </a:lnTo>
                <a:lnTo>
                  <a:pt x="0" y="0"/>
                </a:lnTo>
                <a:close/>
              </a:path>
            </a:pathLst>
          </a:custGeom>
          <a:blipFill>
            <a:blip r:embed="rId2">
              <a:alphaModFix amt="18000"/>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7969340" y="7176031"/>
            <a:ext cx="9289960" cy="2082269"/>
            <a:chOff x="0" y="0"/>
            <a:chExt cx="2446738" cy="548417"/>
          </a:xfrm>
        </p:grpSpPr>
        <p:sp>
          <p:nvSpPr>
            <p:cNvPr name="Freeform 4" id="4"/>
            <p:cNvSpPr/>
            <p:nvPr/>
          </p:nvSpPr>
          <p:spPr>
            <a:xfrm flipH="false" flipV="false" rot="0">
              <a:off x="0" y="0"/>
              <a:ext cx="2446738" cy="548417"/>
            </a:xfrm>
            <a:custGeom>
              <a:avLst/>
              <a:gdLst/>
              <a:ahLst/>
              <a:cxnLst/>
              <a:rect r="r" b="b" t="t" l="l"/>
              <a:pathLst>
                <a:path h="548417" w="2446738">
                  <a:moveTo>
                    <a:pt x="0" y="0"/>
                  </a:moveTo>
                  <a:lnTo>
                    <a:pt x="2446738" y="0"/>
                  </a:lnTo>
                  <a:lnTo>
                    <a:pt x="2446738" y="548417"/>
                  </a:lnTo>
                  <a:lnTo>
                    <a:pt x="0" y="548417"/>
                  </a:lnTo>
                  <a:close/>
                </a:path>
              </a:pathLst>
            </a:custGeom>
            <a:solidFill>
              <a:srgbClr val="F6D7A5"/>
            </a:solidFill>
          </p:spPr>
        </p:sp>
        <p:sp>
          <p:nvSpPr>
            <p:cNvPr name="TextBox 5" id="5"/>
            <p:cNvSpPr txBox="true"/>
            <p:nvPr/>
          </p:nvSpPr>
          <p:spPr>
            <a:xfrm>
              <a:off x="0" y="-57150"/>
              <a:ext cx="2446738" cy="605567"/>
            </a:xfrm>
            <a:prstGeom prst="rect">
              <a:avLst/>
            </a:prstGeom>
          </p:spPr>
          <p:txBody>
            <a:bodyPr anchor="ctr" rtlCol="false" tIns="50800" lIns="50800" bIns="50800" rIns="50800"/>
            <a:lstStyle/>
            <a:p>
              <a:pPr algn="ctr">
                <a:lnSpc>
                  <a:spcPts val="2939"/>
                </a:lnSpc>
              </a:pPr>
            </a:p>
          </p:txBody>
        </p:sp>
      </p:grpSp>
      <p:grpSp>
        <p:nvGrpSpPr>
          <p:cNvPr name="Group 6" id="6"/>
          <p:cNvGrpSpPr/>
          <p:nvPr/>
        </p:nvGrpSpPr>
        <p:grpSpPr>
          <a:xfrm rot="0">
            <a:off x="1028700" y="7176031"/>
            <a:ext cx="8115300" cy="2082269"/>
            <a:chOff x="0" y="0"/>
            <a:chExt cx="2137363" cy="548417"/>
          </a:xfrm>
        </p:grpSpPr>
        <p:sp>
          <p:nvSpPr>
            <p:cNvPr name="Freeform 7" id="7"/>
            <p:cNvSpPr/>
            <p:nvPr/>
          </p:nvSpPr>
          <p:spPr>
            <a:xfrm flipH="false" flipV="false" rot="0">
              <a:off x="0" y="0"/>
              <a:ext cx="2137363" cy="548417"/>
            </a:xfrm>
            <a:custGeom>
              <a:avLst/>
              <a:gdLst/>
              <a:ahLst/>
              <a:cxnLst/>
              <a:rect r="r" b="b" t="t" l="l"/>
              <a:pathLst>
                <a:path h="548417" w="2137363">
                  <a:moveTo>
                    <a:pt x="47700" y="0"/>
                  </a:moveTo>
                  <a:lnTo>
                    <a:pt x="2089663" y="0"/>
                  </a:lnTo>
                  <a:cubicBezTo>
                    <a:pt x="2102314" y="0"/>
                    <a:pt x="2114447" y="5025"/>
                    <a:pt x="2123392" y="13971"/>
                  </a:cubicBezTo>
                  <a:cubicBezTo>
                    <a:pt x="2132337" y="22916"/>
                    <a:pt x="2137363" y="35049"/>
                    <a:pt x="2137363" y="47700"/>
                  </a:cubicBezTo>
                  <a:lnTo>
                    <a:pt x="2137363" y="500717"/>
                  </a:lnTo>
                  <a:cubicBezTo>
                    <a:pt x="2137363" y="513368"/>
                    <a:pt x="2132337" y="525500"/>
                    <a:pt x="2123392" y="534446"/>
                  </a:cubicBezTo>
                  <a:cubicBezTo>
                    <a:pt x="2114447" y="543391"/>
                    <a:pt x="2102314" y="548417"/>
                    <a:pt x="2089663" y="548417"/>
                  </a:cubicBezTo>
                  <a:lnTo>
                    <a:pt x="47700" y="548417"/>
                  </a:lnTo>
                  <a:cubicBezTo>
                    <a:pt x="35049" y="548417"/>
                    <a:pt x="22916" y="543391"/>
                    <a:pt x="13971" y="534446"/>
                  </a:cubicBezTo>
                  <a:cubicBezTo>
                    <a:pt x="5025" y="525500"/>
                    <a:pt x="0" y="513368"/>
                    <a:pt x="0" y="500717"/>
                  </a:cubicBezTo>
                  <a:lnTo>
                    <a:pt x="0" y="47700"/>
                  </a:lnTo>
                  <a:cubicBezTo>
                    <a:pt x="0" y="35049"/>
                    <a:pt x="5025" y="22916"/>
                    <a:pt x="13971" y="13971"/>
                  </a:cubicBezTo>
                  <a:cubicBezTo>
                    <a:pt x="22916" y="5025"/>
                    <a:pt x="35049" y="0"/>
                    <a:pt x="47700" y="0"/>
                  </a:cubicBezTo>
                  <a:close/>
                </a:path>
              </a:pathLst>
            </a:custGeom>
            <a:solidFill>
              <a:srgbClr val="BD3414"/>
            </a:solidFill>
          </p:spPr>
        </p:sp>
        <p:sp>
          <p:nvSpPr>
            <p:cNvPr name="TextBox 8" id="8"/>
            <p:cNvSpPr txBox="true"/>
            <p:nvPr/>
          </p:nvSpPr>
          <p:spPr>
            <a:xfrm>
              <a:off x="0" y="-57150"/>
              <a:ext cx="2137363" cy="605567"/>
            </a:xfrm>
            <a:prstGeom prst="rect">
              <a:avLst/>
            </a:prstGeom>
          </p:spPr>
          <p:txBody>
            <a:bodyPr anchor="ctr" rtlCol="false" tIns="50800" lIns="50800" bIns="50800" rIns="50800"/>
            <a:lstStyle/>
            <a:p>
              <a:pPr algn="ctr">
                <a:lnSpc>
                  <a:spcPts val="2939"/>
                </a:lnSpc>
              </a:pPr>
            </a:p>
          </p:txBody>
        </p:sp>
      </p:grpSp>
      <p:sp>
        <p:nvSpPr>
          <p:cNvPr name="Freeform 9" id="9"/>
          <p:cNvSpPr/>
          <p:nvPr/>
        </p:nvSpPr>
        <p:spPr>
          <a:xfrm flipH="false" flipV="false" rot="0">
            <a:off x="-1553637" y="0"/>
            <a:ext cx="3677334" cy="910140"/>
          </a:xfrm>
          <a:custGeom>
            <a:avLst/>
            <a:gdLst/>
            <a:ahLst/>
            <a:cxnLst/>
            <a:rect r="r" b="b" t="t" l="l"/>
            <a:pathLst>
              <a:path h="910140" w="3677334">
                <a:moveTo>
                  <a:pt x="0" y="0"/>
                </a:moveTo>
                <a:lnTo>
                  <a:pt x="3677334" y="0"/>
                </a:lnTo>
                <a:lnTo>
                  <a:pt x="3677334" y="910140"/>
                </a:lnTo>
                <a:lnTo>
                  <a:pt x="0" y="91014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0" id="10"/>
          <p:cNvSpPr txBox="true"/>
          <p:nvPr/>
        </p:nvSpPr>
        <p:spPr>
          <a:xfrm rot="0">
            <a:off x="1353374" y="7309851"/>
            <a:ext cx="7465952" cy="2400935"/>
          </a:xfrm>
          <a:prstGeom prst="rect">
            <a:avLst/>
          </a:prstGeom>
        </p:spPr>
        <p:txBody>
          <a:bodyPr anchor="t" rtlCol="false" tIns="0" lIns="0" bIns="0" rIns="0">
            <a:spAutoFit/>
          </a:bodyPr>
          <a:lstStyle/>
          <a:p>
            <a:pPr algn="l" marL="431801" indent="-215900" lvl="1">
              <a:lnSpc>
                <a:spcPts val="3200"/>
              </a:lnSpc>
              <a:buFont typeface="Arial"/>
              <a:buChar char="•"/>
            </a:pPr>
            <a:r>
              <a:rPr lang="en-US" b="true" sz="2000" spc="100">
                <a:solidFill>
                  <a:srgbClr val="FFFFFF"/>
                </a:solidFill>
                <a:latin typeface="Quicksand Bold"/>
                <a:ea typeface="Quicksand Bold"/>
                <a:cs typeface="Quicksand Bold"/>
                <a:sym typeface="Quicksand Bold"/>
              </a:rPr>
              <a:t>Overall accuracy: 63%</a:t>
            </a:r>
          </a:p>
          <a:p>
            <a:pPr algn="l" marL="431801" indent="-215900" lvl="1">
              <a:lnSpc>
                <a:spcPts val="3200"/>
              </a:lnSpc>
              <a:buFont typeface="Arial"/>
              <a:buChar char="•"/>
            </a:pPr>
            <a:r>
              <a:rPr lang="en-US" b="true" sz="2000" spc="100">
                <a:solidFill>
                  <a:srgbClr val="FFFFFF"/>
                </a:solidFill>
                <a:latin typeface="Quicksand Bold"/>
                <a:ea typeface="Quicksand Bold"/>
                <a:cs typeface="Quicksand Bold"/>
                <a:sym typeface="Quicksand Bold"/>
              </a:rPr>
              <a:t>Strong performance on Neutral class (F1-score 0.71)</a:t>
            </a:r>
          </a:p>
          <a:p>
            <a:pPr algn="l" marL="431801" indent="-215900" lvl="1">
              <a:lnSpc>
                <a:spcPts val="3200"/>
              </a:lnSpc>
              <a:buFont typeface="Arial"/>
              <a:buChar char="•"/>
            </a:pPr>
            <a:r>
              <a:rPr lang="en-US" b="true" sz="2000" spc="100">
                <a:solidFill>
                  <a:srgbClr val="FFFFFF"/>
                </a:solidFill>
                <a:latin typeface="Quicksand Bold"/>
                <a:ea typeface="Quicksand Bold"/>
                <a:cs typeface="Quicksand Bold"/>
                <a:sym typeface="Quicksand Bold"/>
              </a:rPr>
              <a:t>Poor performance on Negative class (F1-score 0.37, precision only 0.26)</a:t>
            </a:r>
          </a:p>
          <a:p>
            <a:pPr algn="l" marL="0" indent="0" lvl="0">
              <a:lnSpc>
                <a:spcPts val="3360"/>
              </a:lnSpc>
            </a:pPr>
          </a:p>
        </p:txBody>
      </p:sp>
      <p:sp>
        <p:nvSpPr>
          <p:cNvPr name="TextBox 11" id="11"/>
          <p:cNvSpPr txBox="true"/>
          <p:nvPr/>
        </p:nvSpPr>
        <p:spPr>
          <a:xfrm rot="0">
            <a:off x="9468674" y="7309851"/>
            <a:ext cx="7465952" cy="1600835"/>
          </a:xfrm>
          <a:prstGeom prst="rect">
            <a:avLst/>
          </a:prstGeom>
        </p:spPr>
        <p:txBody>
          <a:bodyPr anchor="t" rtlCol="false" tIns="0" lIns="0" bIns="0" rIns="0">
            <a:spAutoFit/>
          </a:bodyPr>
          <a:lstStyle/>
          <a:p>
            <a:pPr algn="l" marL="431801" indent="-215900" lvl="1">
              <a:lnSpc>
                <a:spcPts val="3200"/>
              </a:lnSpc>
              <a:buFont typeface="Arial"/>
              <a:buChar char="•"/>
            </a:pPr>
            <a:r>
              <a:rPr lang="en-US" b="true" sz="2000" spc="100">
                <a:solidFill>
                  <a:srgbClr val="000000"/>
                </a:solidFill>
                <a:latin typeface="Quicksand Bold"/>
                <a:ea typeface="Quicksand Bold"/>
                <a:cs typeface="Quicksand Bold"/>
                <a:sym typeface="Quicksand Bold"/>
              </a:rPr>
              <a:t>Moderate results on Positive class (F1-score 0.58)</a:t>
            </a:r>
          </a:p>
          <a:p>
            <a:pPr algn="l" marL="431801" indent="-215900" lvl="1">
              <a:lnSpc>
                <a:spcPts val="3200"/>
              </a:lnSpc>
              <a:buFont typeface="Arial"/>
              <a:buChar char="•"/>
            </a:pPr>
            <a:r>
              <a:rPr lang="en-US" b="true" sz="2000" spc="100">
                <a:solidFill>
                  <a:srgbClr val="000000"/>
                </a:solidFill>
                <a:latin typeface="Quicksand Bold"/>
                <a:ea typeface="Quicksand Bold"/>
                <a:cs typeface="Quicksand Bold"/>
                <a:sym typeface="Quicksand Bold"/>
              </a:rPr>
              <a:t>Model struggles significantly with identifying negative sentiment</a:t>
            </a:r>
          </a:p>
          <a:p>
            <a:pPr algn="ctr">
              <a:lnSpc>
                <a:spcPts val="3360"/>
              </a:lnSpc>
            </a:pPr>
          </a:p>
        </p:txBody>
      </p:sp>
      <p:sp>
        <p:nvSpPr>
          <p:cNvPr name="Freeform 12" id="12"/>
          <p:cNvSpPr/>
          <p:nvPr/>
        </p:nvSpPr>
        <p:spPr>
          <a:xfrm flipH="false" flipV="false" rot="0">
            <a:off x="16654773" y="8653773"/>
            <a:ext cx="1209054" cy="1209054"/>
          </a:xfrm>
          <a:custGeom>
            <a:avLst/>
            <a:gdLst/>
            <a:ahLst/>
            <a:cxnLst/>
            <a:rect r="r" b="b" t="t" l="l"/>
            <a:pathLst>
              <a:path h="1209054" w="1209054">
                <a:moveTo>
                  <a:pt x="0" y="0"/>
                </a:moveTo>
                <a:lnTo>
                  <a:pt x="1209054" y="0"/>
                </a:lnTo>
                <a:lnTo>
                  <a:pt x="1209054" y="1209054"/>
                </a:lnTo>
                <a:lnTo>
                  <a:pt x="0" y="120905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3" id="13"/>
          <p:cNvSpPr/>
          <p:nvPr/>
        </p:nvSpPr>
        <p:spPr>
          <a:xfrm flipH="false" flipV="false" rot="0">
            <a:off x="424173" y="8653773"/>
            <a:ext cx="1209054" cy="1209054"/>
          </a:xfrm>
          <a:custGeom>
            <a:avLst/>
            <a:gdLst/>
            <a:ahLst/>
            <a:cxnLst/>
            <a:rect r="r" b="b" t="t" l="l"/>
            <a:pathLst>
              <a:path h="1209054" w="1209054">
                <a:moveTo>
                  <a:pt x="0" y="0"/>
                </a:moveTo>
                <a:lnTo>
                  <a:pt x="1209054" y="0"/>
                </a:lnTo>
                <a:lnTo>
                  <a:pt x="1209054" y="1209054"/>
                </a:lnTo>
                <a:lnTo>
                  <a:pt x="0" y="120905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4" id="14"/>
          <p:cNvSpPr/>
          <p:nvPr/>
        </p:nvSpPr>
        <p:spPr>
          <a:xfrm flipH="false" flipV="false" rot="0">
            <a:off x="17089452" y="141160"/>
            <a:ext cx="1057026" cy="1057026"/>
          </a:xfrm>
          <a:custGeom>
            <a:avLst/>
            <a:gdLst/>
            <a:ahLst/>
            <a:cxnLst/>
            <a:rect r="r" b="b" t="t" l="l"/>
            <a:pathLst>
              <a:path h="1057026" w="1057026">
                <a:moveTo>
                  <a:pt x="0" y="0"/>
                </a:moveTo>
                <a:lnTo>
                  <a:pt x="1057026" y="0"/>
                </a:lnTo>
                <a:lnTo>
                  <a:pt x="1057026" y="1057026"/>
                </a:lnTo>
                <a:lnTo>
                  <a:pt x="0" y="1057026"/>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5" id="15"/>
          <p:cNvSpPr/>
          <p:nvPr/>
        </p:nvSpPr>
        <p:spPr>
          <a:xfrm flipH="false" flipV="false" rot="0">
            <a:off x="1028700" y="3179191"/>
            <a:ext cx="5358167" cy="3552697"/>
          </a:xfrm>
          <a:custGeom>
            <a:avLst/>
            <a:gdLst/>
            <a:ahLst/>
            <a:cxnLst/>
            <a:rect r="r" b="b" t="t" l="l"/>
            <a:pathLst>
              <a:path h="3552697" w="5358167">
                <a:moveTo>
                  <a:pt x="0" y="0"/>
                </a:moveTo>
                <a:lnTo>
                  <a:pt x="5358167" y="0"/>
                </a:lnTo>
                <a:lnTo>
                  <a:pt x="5358167" y="3552698"/>
                </a:lnTo>
                <a:lnTo>
                  <a:pt x="0" y="3552698"/>
                </a:lnTo>
                <a:lnTo>
                  <a:pt x="0" y="0"/>
                </a:lnTo>
                <a:close/>
              </a:path>
            </a:pathLst>
          </a:custGeom>
          <a:blipFill>
            <a:blip r:embed="rId12"/>
            <a:stretch>
              <a:fillRect l="0" t="0" r="0" b="0"/>
            </a:stretch>
          </a:blipFill>
        </p:spPr>
      </p:sp>
      <p:sp>
        <p:nvSpPr>
          <p:cNvPr name="Freeform 16" id="16"/>
          <p:cNvSpPr/>
          <p:nvPr/>
        </p:nvSpPr>
        <p:spPr>
          <a:xfrm flipH="false" flipV="false" rot="0">
            <a:off x="6742354" y="2306775"/>
            <a:ext cx="10875611" cy="4434401"/>
          </a:xfrm>
          <a:custGeom>
            <a:avLst/>
            <a:gdLst/>
            <a:ahLst/>
            <a:cxnLst/>
            <a:rect r="r" b="b" t="t" l="l"/>
            <a:pathLst>
              <a:path h="4434401" w="10875611">
                <a:moveTo>
                  <a:pt x="0" y="0"/>
                </a:moveTo>
                <a:lnTo>
                  <a:pt x="10875611" y="0"/>
                </a:lnTo>
                <a:lnTo>
                  <a:pt x="10875611" y="4434401"/>
                </a:lnTo>
                <a:lnTo>
                  <a:pt x="0" y="4434401"/>
                </a:lnTo>
                <a:lnTo>
                  <a:pt x="0" y="0"/>
                </a:lnTo>
                <a:close/>
              </a:path>
            </a:pathLst>
          </a:custGeom>
          <a:blipFill>
            <a:blip r:embed="rId13"/>
            <a:stretch>
              <a:fillRect l="0" t="0" r="0" b="0"/>
            </a:stretch>
          </a:blipFill>
        </p:spPr>
      </p:sp>
      <p:sp>
        <p:nvSpPr>
          <p:cNvPr name="TextBox 17" id="17"/>
          <p:cNvSpPr txBox="true"/>
          <p:nvPr/>
        </p:nvSpPr>
        <p:spPr>
          <a:xfrm rot="0">
            <a:off x="3286636" y="451785"/>
            <a:ext cx="11714728" cy="1854989"/>
          </a:xfrm>
          <a:prstGeom prst="rect">
            <a:avLst/>
          </a:prstGeom>
        </p:spPr>
        <p:txBody>
          <a:bodyPr anchor="t" rtlCol="false" tIns="0" lIns="0" bIns="0" rIns="0">
            <a:spAutoFit/>
          </a:bodyPr>
          <a:lstStyle/>
          <a:p>
            <a:pPr algn="ctr" marL="0" indent="0" lvl="0">
              <a:lnSpc>
                <a:spcPts val="9650"/>
              </a:lnSpc>
            </a:pPr>
            <a:r>
              <a:rPr lang="en-US" sz="8391">
                <a:solidFill>
                  <a:srgbClr val="BD3414"/>
                </a:solidFill>
                <a:latin typeface="Archivo Black"/>
                <a:ea typeface="Archivo Black"/>
                <a:cs typeface="Archivo Black"/>
                <a:sym typeface="Archivo Black"/>
              </a:rPr>
              <a:t>Logistic Regression</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EBDBCC"/>
        </a:solidFill>
      </p:bgPr>
    </p:bg>
    <p:spTree>
      <p:nvGrpSpPr>
        <p:cNvPr id="1" name=""/>
        <p:cNvGrpSpPr/>
        <p:nvPr/>
      </p:nvGrpSpPr>
      <p:grpSpPr>
        <a:xfrm>
          <a:off x="0" y="0"/>
          <a:ext cx="0" cy="0"/>
          <a:chOff x="0" y="0"/>
          <a:chExt cx="0" cy="0"/>
        </a:xfrm>
      </p:grpSpPr>
      <p:sp>
        <p:nvSpPr>
          <p:cNvPr name="Freeform 2" id="2"/>
          <p:cNvSpPr/>
          <p:nvPr/>
        </p:nvSpPr>
        <p:spPr>
          <a:xfrm flipH="false" flipV="false" rot="0">
            <a:off x="-5923757" y="141160"/>
            <a:ext cx="11700697" cy="11700697"/>
          </a:xfrm>
          <a:custGeom>
            <a:avLst/>
            <a:gdLst/>
            <a:ahLst/>
            <a:cxnLst/>
            <a:rect r="r" b="b" t="t" l="l"/>
            <a:pathLst>
              <a:path h="11700697" w="11700697">
                <a:moveTo>
                  <a:pt x="0" y="0"/>
                </a:moveTo>
                <a:lnTo>
                  <a:pt x="11700697" y="0"/>
                </a:lnTo>
                <a:lnTo>
                  <a:pt x="11700697" y="11700697"/>
                </a:lnTo>
                <a:lnTo>
                  <a:pt x="0" y="11700697"/>
                </a:lnTo>
                <a:lnTo>
                  <a:pt x="0" y="0"/>
                </a:lnTo>
                <a:close/>
              </a:path>
            </a:pathLst>
          </a:custGeom>
          <a:blipFill>
            <a:blip r:embed="rId2">
              <a:alphaModFix amt="18000"/>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61771" y="7869551"/>
            <a:ext cx="9289960" cy="2082269"/>
            <a:chOff x="0" y="0"/>
            <a:chExt cx="2446738" cy="548417"/>
          </a:xfrm>
        </p:grpSpPr>
        <p:sp>
          <p:nvSpPr>
            <p:cNvPr name="Freeform 4" id="4"/>
            <p:cNvSpPr/>
            <p:nvPr/>
          </p:nvSpPr>
          <p:spPr>
            <a:xfrm flipH="false" flipV="false" rot="0">
              <a:off x="0" y="0"/>
              <a:ext cx="2446738" cy="548417"/>
            </a:xfrm>
            <a:custGeom>
              <a:avLst/>
              <a:gdLst/>
              <a:ahLst/>
              <a:cxnLst/>
              <a:rect r="r" b="b" t="t" l="l"/>
              <a:pathLst>
                <a:path h="548417" w="2446738">
                  <a:moveTo>
                    <a:pt x="0" y="0"/>
                  </a:moveTo>
                  <a:lnTo>
                    <a:pt x="2446738" y="0"/>
                  </a:lnTo>
                  <a:lnTo>
                    <a:pt x="2446738" y="548417"/>
                  </a:lnTo>
                  <a:lnTo>
                    <a:pt x="0" y="548417"/>
                  </a:lnTo>
                  <a:close/>
                </a:path>
              </a:pathLst>
            </a:custGeom>
            <a:solidFill>
              <a:srgbClr val="F6D7A5"/>
            </a:solidFill>
          </p:spPr>
        </p:sp>
        <p:sp>
          <p:nvSpPr>
            <p:cNvPr name="TextBox 5" id="5"/>
            <p:cNvSpPr txBox="true"/>
            <p:nvPr/>
          </p:nvSpPr>
          <p:spPr>
            <a:xfrm>
              <a:off x="0" y="-57150"/>
              <a:ext cx="2446738" cy="605567"/>
            </a:xfrm>
            <a:prstGeom prst="rect">
              <a:avLst/>
            </a:prstGeom>
          </p:spPr>
          <p:txBody>
            <a:bodyPr anchor="ctr" rtlCol="false" tIns="50800" lIns="50800" bIns="50800" rIns="50800"/>
            <a:lstStyle/>
            <a:p>
              <a:pPr algn="ctr">
                <a:lnSpc>
                  <a:spcPts val="2939"/>
                </a:lnSpc>
              </a:pPr>
            </a:p>
          </p:txBody>
        </p:sp>
      </p:grpSp>
      <p:grpSp>
        <p:nvGrpSpPr>
          <p:cNvPr name="Group 6" id="6"/>
          <p:cNvGrpSpPr/>
          <p:nvPr/>
        </p:nvGrpSpPr>
        <p:grpSpPr>
          <a:xfrm rot="0">
            <a:off x="61771" y="5657915"/>
            <a:ext cx="8115300" cy="2082269"/>
            <a:chOff x="0" y="0"/>
            <a:chExt cx="2137363" cy="548417"/>
          </a:xfrm>
        </p:grpSpPr>
        <p:sp>
          <p:nvSpPr>
            <p:cNvPr name="Freeform 7" id="7"/>
            <p:cNvSpPr/>
            <p:nvPr/>
          </p:nvSpPr>
          <p:spPr>
            <a:xfrm flipH="false" flipV="false" rot="0">
              <a:off x="0" y="0"/>
              <a:ext cx="2137363" cy="548417"/>
            </a:xfrm>
            <a:custGeom>
              <a:avLst/>
              <a:gdLst/>
              <a:ahLst/>
              <a:cxnLst/>
              <a:rect r="r" b="b" t="t" l="l"/>
              <a:pathLst>
                <a:path h="548417" w="2137363">
                  <a:moveTo>
                    <a:pt x="47700" y="0"/>
                  </a:moveTo>
                  <a:lnTo>
                    <a:pt x="2089663" y="0"/>
                  </a:lnTo>
                  <a:cubicBezTo>
                    <a:pt x="2102314" y="0"/>
                    <a:pt x="2114447" y="5025"/>
                    <a:pt x="2123392" y="13971"/>
                  </a:cubicBezTo>
                  <a:cubicBezTo>
                    <a:pt x="2132337" y="22916"/>
                    <a:pt x="2137363" y="35049"/>
                    <a:pt x="2137363" y="47700"/>
                  </a:cubicBezTo>
                  <a:lnTo>
                    <a:pt x="2137363" y="500717"/>
                  </a:lnTo>
                  <a:cubicBezTo>
                    <a:pt x="2137363" y="513368"/>
                    <a:pt x="2132337" y="525500"/>
                    <a:pt x="2123392" y="534446"/>
                  </a:cubicBezTo>
                  <a:cubicBezTo>
                    <a:pt x="2114447" y="543391"/>
                    <a:pt x="2102314" y="548417"/>
                    <a:pt x="2089663" y="548417"/>
                  </a:cubicBezTo>
                  <a:lnTo>
                    <a:pt x="47700" y="548417"/>
                  </a:lnTo>
                  <a:cubicBezTo>
                    <a:pt x="35049" y="548417"/>
                    <a:pt x="22916" y="543391"/>
                    <a:pt x="13971" y="534446"/>
                  </a:cubicBezTo>
                  <a:cubicBezTo>
                    <a:pt x="5025" y="525500"/>
                    <a:pt x="0" y="513368"/>
                    <a:pt x="0" y="500717"/>
                  </a:cubicBezTo>
                  <a:lnTo>
                    <a:pt x="0" y="47700"/>
                  </a:lnTo>
                  <a:cubicBezTo>
                    <a:pt x="0" y="35049"/>
                    <a:pt x="5025" y="22916"/>
                    <a:pt x="13971" y="13971"/>
                  </a:cubicBezTo>
                  <a:cubicBezTo>
                    <a:pt x="22916" y="5025"/>
                    <a:pt x="35049" y="0"/>
                    <a:pt x="47700" y="0"/>
                  </a:cubicBezTo>
                  <a:close/>
                </a:path>
              </a:pathLst>
            </a:custGeom>
            <a:solidFill>
              <a:srgbClr val="BD3414"/>
            </a:solidFill>
          </p:spPr>
        </p:sp>
        <p:sp>
          <p:nvSpPr>
            <p:cNvPr name="TextBox 8" id="8"/>
            <p:cNvSpPr txBox="true"/>
            <p:nvPr/>
          </p:nvSpPr>
          <p:spPr>
            <a:xfrm>
              <a:off x="0" y="-57150"/>
              <a:ext cx="2137363" cy="605567"/>
            </a:xfrm>
            <a:prstGeom prst="rect">
              <a:avLst/>
            </a:prstGeom>
          </p:spPr>
          <p:txBody>
            <a:bodyPr anchor="ctr" rtlCol="false" tIns="50800" lIns="50800" bIns="50800" rIns="50800"/>
            <a:lstStyle/>
            <a:p>
              <a:pPr algn="ctr">
                <a:lnSpc>
                  <a:spcPts val="2939"/>
                </a:lnSpc>
              </a:pPr>
            </a:p>
          </p:txBody>
        </p:sp>
      </p:grpSp>
      <p:sp>
        <p:nvSpPr>
          <p:cNvPr name="Freeform 9" id="9"/>
          <p:cNvSpPr/>
          <p:nvPr/>
        </p:nvSpPr>
        <p:spPr>
          <a:xfrm flipH="false" flipV="false" rot="0">
            <a:off x="-1553637" y="0"/>
            <a:ext cx="3677334" cy="910140"/>
          </a:xfrm>
          <a:custGeom>
            <a:avLst/>
            <a:gdLst/>
            <a:ahLst/>
            <a:cxnLst/>
            <a:rect r="r" b="b" t="t" l="l"/>
            <a:pathLst>
              <a:path h="910140" w="3677334">
                <a:moveTo>
                  <a:pt x="0" y="0"/>
                </a:moveTo>
                <a:lnTo>
                  <a:pt x="3677334" y="0"/>
                </a:lnTo>
                <a:lnTo>
                  <a:pt x="3677334" y="910140"/>
                </a:lnTo>
                <a:lnTo>
                  <a:pt x="0" y="91014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0" id="10"/>
          <p:cNvSpPr txBox="true"/>
          <p:nvPr/>
        </p:nvSpPr>
        <p:spPr>
          <a:xfrm rot="0">
            <a:off x="285030" y="5572190"/>
            <a:ext cx="7465952" cy="2074545"/>
          </a:xfrm>
          <a:prstGeom prst="rect">
            <a:avLst/>
          </a:prstGeom>
        </p:spPr>
        <p:txBody>
          <a:bodyPr anchor="t" rtlCol="false" tIns="0" lIns="0" bIns="0" rIns="0">
            <a:spAutoFit/>
          </a:bodyPr>
          <a:lstStyle/>
          <a:p>
            <a:pPr algn="l" marL="453390" indent="-226695" lvl="1">
              <a:lnSpc>
                <a:spcPts val="3360"/>
              </a:lnSpc>
              <a:buFont typeface="Arial"/>
              <a:buChar char="•"/>
            </a:pPr>
            <a:r>
              <a:rPr lang="en-US" b="true" sz="2100" spc="105">
                <a:solidFill>
                  <a:srgbClr val="FFFFFF"/>
                </a:solidFill>
                <a:latin typeface="Quicksand Bold"/>
                <a:ea typeface="Quicksand Bold"/>
                <a:cs typeface="Quicksand Bold"/>
                <a:sym typeface="Quicksand Bold"/>
              </a:rPr>
              <a:t>Model correctly classified most Neutral instances (dark blue square)</a:t>
            </a:r>
          </a:p>
          <a:p>
            <a:pPr algn="l" marL="453390" indent="-226695" lvl="1">
              <a:lnSpc>
                <a:spcPts val="3360"/>
              </a:lnSpc>
              <a:buFont typeface="Arial"/>
              <a:buChar char="•"/>
            </a:pPr>
            <a:r>
              <a:rPr lang="en-US" b="true" sz="2100" spc="105">
                <a:solidFill>
                  <a:srgbClr val="FFFFFF"/>
                </a:solidFill>
                <a:latin typeface="Quicksand Bold"/>
                <a:ea typeface="Quicksand Bold"/>
                <a:cs typeface="Quicksand Bold"/>
                <a:sym typeface="Quicksand Bold"/>
              </a:rPr>
              <a:t>High confusion between Neutral and Positive classes</a:t>
            </a:r>
          </a:p>
          <a:p>
            <a:pPr algn="l" marL="0" indent="0" lvl="0">
              <a:lnSpc>
                <a:spcPts val="3360"/>
              </a:lnSpc>
            </a:pPr>
          </a:p>
        </p:txBody>
      </p:sp>
      <p:sp>
        <p:nvSpPr>
          <p:cNvPr name="TextBox 11" id="11"/>
          <p:cNvSpPr txBox="true"/>
          <p:nvPr/>
        </p:nvSpPr>
        <p:spPr>
          <a:xfrm rot="0">
            <a:off x="285030" y="7886065"/>
            <a:ext cx="7465952" cy="2493645"/>
          </a:xfrm>
          <a:prstGeom prst="rect">
            <a:avLst/>
          </a:prstGeom>
        </p:spPr>
        <p:txBody>
          <a:bodyPr anchor="t" rtlCol="false" tIns="0" lIns="0" bIns="0" rIns="0">
            <a:spAutoFit/>
          </a:bodyPr>
          <a:lstStyle/>
          <a:p>
            <a:pPr algn="l" marL="453390" indent="-226695" lvl="1">
              <a:lnSpc>
                <a:spcPts val="3360"/>
              </a:lnSpc>
              <a:buFont typeface="Arial"/>
              <a:buChar char="•"/>
            </a:pPr>
            <a:r>
              <a:rPr lang="en-US" b="true" sz="2100" spc="105">
                <a:solidFill>
                  <a:srgbClr val="000000"/>
                </a:solidFill>
                <a:latin typeface="Quicksand Bold"/>
                <a:ea typeface="Quicksand Bold"/>
                <a:cs typeface="Quicksand Bold"/>
                <a:sym typeface="Quicksand Bold"/>
              </a:rPr>
              <a:t>Very poor performance on Negative class:</a:t>
            </a:r>
          </a:p>
          <a:p>
            <a:pPr algn="l" marL="453390" indent="-226695" lvl="1">
              <a:lnSpc>
                <a:spcPts val="3360"/>
              </a:lnSpc>
              <a:buFont typeface="Arial"/>
              <a:buChar char="•"/>
            </a:pPr>
            <a:r>
              <a:rPr lang="en-US" b="true" sz="2100" spc="105">
                <a:solidFill>
                  <a:srgbClr val="000000"/>
                </a:solidFill>
                <a:latin typeface="Quicksand Bold"/>
                <a:ea typeface="Quicksand Bold"/>
                <a:cs typeface="Quicksand Bold"/>
                <a:sym typeface="Quicksand Bold"/>
              </a:rPr>
              <a:t>Only 44 correctly predicted as Negative</a:t>
            </a:r>
          </a:p>
          <a:p>
            <a:pPr algn="l" marL="453390" indent="-226695" lvl="1">
              <a:lnSpc>
                <a:spcPts val="3360"/>
              </a:lnSpc>
              <a:buFont typeface="Arial"/>
              <a:buChar char="•"/>
            </a:pPr>
            <a:r>
              <a:rPr lang="en-US" b="true" sz="2100" spc="105">
                <a:solidFill>
                  <a:srgbClr val="000000"/>
                </a:solidFill>
                <a:latin typeface="Quicksand Bold"/>
                <a:ea typeface="Quicksand Bold"/>
                <a:cs typeface="Quicksand Bold"/>
                <a:sym typeface="Quicksand Bold"/>
              </a:rPr>
              <a:t>54 Negative instances misclassified as Neutral</a:t>
            </a:r>
          </a:p>
          <a:p>
            <a:pPr algn="l" marL="453390" indent="-226695" lvl="1">
              <a:lnSpc>
                <a:spcPts val="3360"/>
              </a:lnSpc>
              <a:buFont typeface="Arial"/>
              <a:buChar char="•"/>
            </a:pPr>
            <a:r>
              <a:rPr lang="en-US" b="true" sz="2100" spc="105">
                <a:solidFill>
                  <a:srgbClr val="000000"/>
                </a:solidFill>
                <a:latin typeface="Quicksand Bold"/>
                <a:ea typeface="Quicksand Bold"/>
                <a:cs typeface="Quicksand Bold"/>
                <a:sym typeface="Quicksand Bold"/>
              </a:rPr>
              <a:t>Shows the model has difficulty distinguishing Negative sentiment</a:t>
            </a:r>
          </a:p>
          <a:p>
            <a:pPr algn="ctr">
              <a:lnSpc>
                <a:spcPts val="3360"/>
              </a:lnSpc>
            </a:pPr>
          </a:p>
        </p:txBody>
      </p:sp>
      <p:sp>
        <p:nvSpPr>
          <p:cNvPr name="Freeform 12" id="12"/>
          <p:cNvSpPr/>
          <p:nvPr/>
        </p:nvSpPr>
        <p:spPr>
          <a:xfrm flipH="false" flipV="false" rot="0">
            <a:off x="16654773" y="8653773"/>
            <a:ext cx="1209054" cy="1209054"/>
          </a:xfrm>
          <a:custGeom>
            <a:avLst/>
            <a:gdLst/>
            <a:ahLst/>
            <a:cxnLst/>
            <a:rect r="r" b="b" t="t" l="l"/>
            <a:pathLst>
              <a:path h="1209054" w="1209054">
                <a:moveTo>
                  <a:pt x="0" y="0"/>
                </a:moveTo>
                <a:lnTo>
                  <a:pt x="1209054" y="0"/>
                </a:lnTo>
                <a:lnTo>
                  <a:pt x="1209054" y="1209054"/>
                </a:lnTo>
                <a:lnTo>
                  <a:pt x="0" y="120905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3" id="13"/>
          <p:cNvSpPr/>
          <p:nvPr/>
        </p:nvSpPr>
        <p:spPr>
          <a:xfrm flipH="false" flipV="false" rot="0">
            <a:off x="61771" y="3214300"/>
            <a:ext cx="1209054" cy="1209054"/>
          </a:xfrm>
          <a:custGeom>
            <a:avLst/>
            <a:gdLst/>
            <a:ahLst/>
            <a:cxnLst/>
            <a:rect r="r" b="b" t="t" l="l"/>
            <a:pathLst>
              <a:path h="1209054" w="1209054">
                <a:moveTo>
                  <a:pt x="0" y="0"/>
                </a:moveTo>
                <a:lnTo>
                  <a:pt x="1209053" y="0"/>
                </a:lnTo>
                <a:lnTo>
                  <a:pt x="1209053" y="1209053"/>
                </a:lnTo>
                <a:lnTo>
                  <a:pt x="0" y="1209053"/>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4" id="14"/>
          <p:cNvSpPr/>
          <p:nvPr/>
        </p:nvSpPr>
        <p:spPr>
          <a:xfrm flipH="false" flipV="false" rot="0">
            <a:off x="17089452" y="141160"/>
            <a:ext cx="1057026" cy="1057026"/>
          </a:xfrm>
          <a:custGeom>
            <a:avLst/>
            <a:gdLst/>
            <a:ahLst/>
            <a:cxnLst/>
            <a:rect r="r" b="b" t="t" l="l"/>
            <a:pathLst>
              <a:path h="1057026" w="1057026">
                <a:moveTo>
                  <a:pt x="0" y="0"/>
                </a:moveTo>
                <a:lnTo>
                  <a:pt x="1057026" y="0"/>
                </a:lnTo>
                <a:lnTo>
                  <a:pt x="1057026" y="1057026"/>
                </a:lnTo>
                <a:lnTo>
                  <a:pt x="0" y="1057026"/>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5" id="15"/>
          <p:cNvSpPr/>
          <p:nvPr/>
        </p:nvSpPr>
        <p:spPr>
          <a:xfrm flipH="false" flipV="false" rot="0">
            <a:off x="2085199" y="2113088"/>
            <a:ext cx="3865615" cy="3411477"/>
          </a:xfrm>
          <a:custGeom>
            <a:avLst/>
            <a:gdLst/>
            <a:ahLst/>
            <a:cxnLst/>
            <a:rect r="r" b="b" t="t" l="l"/>
            <a:pathLst>
              <a:path h="3411477" w="3865615">
                <a:moveTo>
                  <a:pt x="0" y="0"/>
                </a:moveTo>
                <a:lnTo>
                  <a:pt x="3865614" y="0"/>
                </a:lnTo>
                <a:lnTo>
                  <a:pt x="3865614" y="3411477"/>
                </a:lnTo>
                <a:lnTo>
                  <a:pt x="0" y="3411477"/>
                </a:lnTo>
                <a:lnTo>
                  <a:pt x="0" y="0"/>
                </a:lnTo>
                <a:close/>
              </a:path>
            </a:pathLst>
          </a:custGeom>
          <a:blipFill>
            <a:blip r:embed="rId12"/>
            <a:stretch>
              <a:fillRect l="-22832" t="0" r="-15778" b="-4139"/>
            </a:stretch>
          </a:blipFill>
        </p:spPr>
      </p:sp>
      <p:sp>
        <p:nvSpPr>
          <p:cNvPr name="Freeform 16" id="16"/>
          <p:cNvSpPr/>
          <p:nvPr/>
        </p:nvSpPr>
        <p:spPr>
          <a:xfrm flipH="false" flipV="false" rot="0">
            <a:off x="9144000" y="2632834"/>
            <a:ext cx="7806614" cy="6020939"/>
          </a:xfrm>
          <a:custGeom>
            <a:avLst/>
            <a:gdLst/>
            <a:ahLst/>
            <a:cxnLst/>
            <a:rect r="r" b="b" t="t" l="l"/>
            <a:pathLst>
              <a:path h="6020939" w="7806614">
                <a:moveTo>
                  <a:pt x="0" y="0"/>
                </a:moveTo>
                <a:lnTo>
                  <a:pt x="7806614" y="0"/>
                </a:lnTo>
                <a:lnTo>
                  <a:pt x="7806614" y="6020939"/>
                </a:lnTo>
                <a:lnTo>
                  <a:pt x="0" y="6020939"/>
                </a:lnTo>
                <a:lnTo>
                  <a:pt x="0" y="0"/>
                </a:lnTo>
                <a:close/>
              </a:path>
            </a:pathLst>
          </a:custGeom>
          <a:blipFill>
            <a:blip r:embed="rId13"/>
            <a:stretch>
              <a:fillRect l="0" t="-470" r="0" b="-3459"/>
            </a:stretch>
          </a:blipFill>
        </p:spPr>
      </p:sp>
      <p:sp>
        <p:nvSpPr>
          <p:cNvPr name="TextBox 17" id="17"/>
          <p:cNvSpPr txBox="true"/>
          <p:nvPr/>
        </p:nvSpPr>
        <p:spPr>
          <a:xfrm rot="0">
            <a:off x="4119421" y="451785"/>
            <a:ext cx="10049159" cy="1693515"/>
          </a:xfrm>
          <a:prstGeom prst="rect">
            <a:avLst/>
          </a:prstGeom>
        </p:spPr>
        <p:txBody>
          <a:bodyPr anchor="t" rtlCol="false" tIns="0" lIns="0" bIns="0" rIns="0">
            <a:spAutoFit/>
          </a:bodyPr>
          <a:lstStyle/>
          <a:p>
            <a:pPr algn="ctr" marL="0" indent="0" lvl="0">
              <a:lnSpc>
                <a:spcPts val="9650"/>
              </a:lnSpc>
            </a:pPr>
            <a:r>
              <a:rPr lang="en-US" sz="8391">
                <a:solidFill>
                  <a:srgbClr val="BD3414"/>
                </a:solidFill>
                <a:latin typeface="Archivo Black"/>
                <a:ea typeface="Archivo Black"/>
                <a:cs typeface="Archivo Black"/>
                <a:sym typeface="Archivo Black"/>
              </a:rPr>
              <a:t>Confusion Matrix</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EBDBCC"/>
        </a:solidFill>
      </p:bgPr>
    </p:bg>
    <p:spTree>
      <p:nvGrpSpPr>
        <p:cNvPr id="1" name=""/>
        <p:cNvGrpSpPr/>
        <p:nvPr/>
      </p:nvGrpSpPr>
      <p:grpSpPr>
        <a:xfrm>
          <a:off x="0" y="0"/>
          <a:ext cx="0" cy="0"/>
          <a:chOff x="0" y="0"/>
          <a:chExt cx="0" cy="0"/>
        </a:xfrm>
      </p:grpSpPr>
      <p:sp>
        <p:nvSpPr>
          <p:cNvPr name="Freeform 2" id="2"/>
          <p:cNvSpPr/>
          <p:nvPr/>
        </p:nvSpPr>
        <p:spPr>
          <a:xfrm flipH="false" flipV="false" rot="0">
            <a:off x="-5923757" y="141160"/>
            <a:ext cx="11700697" cy="11700697"/>
          </a:xfrm>
          <a:custGeom>
            <a:avLst/>
            <a:gdLst/>
            <a:ahLst/>
            <a:cxnLst/>
            <a:rect r="r" b="b" t="t" l="l"/>
            <a:pathLst>
              <a:path h="11700697" w="11700697">
                <a:moveTo>
                  <a:pt x="0" y="0"/>
                </a:moveTo>
                <a:lnTo>
                  <a:pt x="11700697" y="0"/>
                </a:lnTo>
                <a:lnTo>
                  <a:pt x="11700697" y="11700697"/>
                </a:lnTo>
                <a:lnTo>
                  <a:pt x="0" y="11700697"/>
                </a:lnTo>
                <a:lnTo>
                  <a:pt x="0" y="0"/>
                </a:lnTo>
                <a:close/>
              </a:path>
            </a:pathLst>
          </a:custGeom>
          <a:blipFill>
            <a:blip r:embed="rId2">
              <a:alphaModFix amt="18000"/>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7969340" y="7176031"/>
            <a:ext cx="9289960" cy="2082269"/>
            <a:chOff x="0" y="0"/>
            <a:chExt cx="2446738" cy="548417"/>
          </a:xfrm>
        </p:grpSpPr>
        <p:sp>
          <p:nvSpPr>
            <p:cNvPr name="Freeform 4" id="4"/>
            <p:cNvSpPr/>
            <p:nvPr/>
          </p:nvSpPr>
          <p:spPr>
            <a:xfrm flipH="false" flipV="false" rot="0">
              <a:off x="0" y="0"/>
              <a:ext cx="2446738" cy="548417"/>
            </a:xfrm>
            <a:custGeom>
              <a:avLst/>
              <a:gdLst/>
              <a:ahLst/>
              <a:cxnLst/>
              <a:rect r="r" b="b" t="t" l="l"/>
              <a:pathLst>
                <a:path h="548417" w="2446738">
                  <a:moveTo>
                    <a:pt x="0" y="0"/>
                  </a:moveTo>
                  <a:lnTo>
                    <a:pt x="2446738" y="0"/>
                  </a:lnTo>
                  <a:lnTo>
                    <a:pt x="2446738" y="548417"/>
                  </a:lnTo>
                  <a:lnTo>
                    <a:pt x="0" y="548417"/>
                  </a:lnTo>
                  <a:close/>
                </a:path>
              </a:pathLst>
            </a:custGeom>
            <a:solidFill>
              <a:srgbClr val="F6D7A5"/>
            </a:solidFill>
          </p:spPr>
        </p:sp>
        <p:sp>
          <p:nvSpPr>
            <p:cNvPr name="TextBox 5" id="5"/>
            <p:cNvSpPr txBox="true"/>
            <p:nvPr/>
          </p:nvSpPr>
          <p:spPr>
            <a:xfrm>
              <a:off x="0" y="-57150"/>
              <a:ext cx="2446738" cy="605567"/>
            </a:xfrm>
            <a:prstGeom prst="rect">
              <a:avLst/>
            </a:prstGeom>
          </p:spPr>
          <p:txBody>
            <a:bodyPr anchor="ctr" rtlCol="false" tIns="50800" lIns="50800" bIns="50800" rIns="50800"/>
            <a:lstStyle/>
            <a:p>
              <a:pPr algn="ctr">
                <a:lnSpc>
                  <a:spcPts val="2939"/>
                </a:lnSpc>
              </a:pPr>
            </a:p>
          </p:txBody>
        </p:sp>
      </p:grpSp>
      <p:grpSp>
        <p:nvGrpSpPr>
          <p:cNvPr name="Group 6" id="6"/>
          <p:cNvGrpSpPr/>
          <p:nvPr/>
        </p:nvGrpSpPr>
        <p:grpSpPr>
          <a:xfrm rot="0">
            <a:off x="1028700" y="7176031"/>
            <a:ext cx="8115300" cy="2082269"/>
            <a:chOff x="0" y="0"/>
            <a:chExt cx="2137363" cy="548417"/>
          </a:xfrm>
        </p:grpSpPr>
        <p:sp>
          <p:nvSpPr>
            <p:cNvPr name="Freeform 7" id="7"/>
            <p:cNvSpPr/>
            <p:nvPr/>
          </p:nvSpPr>
          <p:spPr>
            <a:xfrm flipH="false" flipV="false" rot="0">
              <a:off x="0" y="0"/>
              <a:ext cx="2137363" cy="548417"/>
            </a:xfrm>
            <a:custGeom>
              <a:avLst/>
              <a:gdLst/>
              <a:ahLst/>
              <a:cxnLst/>
              <a:rect r="r" b="b" t="t" l="l"/>
              <a:pathLst>
                <a:path h="548417" w="2137363">
                  <a:moveTo>
                    <a:pt x="47700" y="0"/>
                  </a:moveTo>
                  <a:lnTo>
                    <a:pt x="2089663" y="0"/>
                  </a:lnTo>
                  <a:cubicBezTo>
                    <a:pt x="2102314" y="0"/>
                    <a:pt x="2114447" y="5025"/>
                    <a:pt x="2123392" y="13971"/>
                  </a:cubicBezTo>
                  <a:cubicBezTo>
                    <a:pt x="2132337" y="22916"/>
                    <a:pt x="2137363" y="35049"/>
                    <a:pt x="2137363" y="47700"/>
                  </a:cubicBezTo>
                  <a:lnTo>
                    <a:pt x="2137363" y="500717"/>
                  </a:lnTo>
                  <a:cubicBezTo>
                    <a:pt x="2137363" y="513368"/>
                    <a:pt x="2132337" y="525500"/>
                    <a:pt x="2123392" y="534446"/>
                  </a:cubicBezTo>
                  <a:cubicBezTo>
                    <a:pt x="2114447" y="543391"/>
                    <a:pt x="2102314" y="548417"/>
                    <a:pt x="2089663" y="548417"/>
                  </a:cubicBezTo>
                  <a:lnTo>
                    <a:pt x="47700" y="548417"/>
                  </a:lnTo>
                  <a:cubicBezTo>
                    <a:pt x="35049" y="548417"/>
                    <a:pt x="22916" y="543391"/>
                    <a:pt x="13971" y="534446"/>
                  </a:cubicBezTo>
                  <a:cubicBezTo>
                    <a:pt x="5025" y="525500"/>
                    <a:pt x="0" y="513368"/>
                    <a:pt x="0" y="500717"/>
                  </a:cubicBezTo>
                  <a:lnTo>
                    <a:pt x="0" y="47700"/>
                  </a:lnTo>
                  <a:cubicBezTo>
                    <a:pt x="0" y="35049"/>
                    <a:pt x="5025" y="22916"/>
                    <a:pt x="13971" y="13971"/>
                  </a:cubicBezTo>
                  <a:cubicBezTo>
                    <a:pt x="22916" y="5025"/>
                    <a:pt x="35049" y="0"/>
                    <a:pt x="47700" y="0"/>
                  </a:cubicBezTo>
                  <a:close/>
                </a:path>
              </a:pathLst>
            </a:custGeom>
            <a:solidFill>
              <a:srgbClr val="BD3414"/>
            </a:solidFill>
          </p:spPr>
        </p:sp>
        <p:sp>
          <p:nvSpPr>
            <p:cNvPr name="TextBox 8" id="8"/>
            <p:cNvSpPr txBox="true"/>
            <p:nvPr/>
          </p:nvSpPr>
          <p:spPr>
            <a:xfrm>
              <a:off x="0" y="-57150"/>
              <a:ext cx="2137363" cy="605567"/>
            </a:xfrm>
            <a:prstGeom prst="rect">
              <a:avLst/>
            </a:prstGeom>
          </p:spPr>
          <p:txBody>
            <a:bodyPr anchor="ctr" rtlCol="false" tIns="50800" lIns="50800" bIns="50800" rIns="50800"/>
            <a:lstStyle/>
            <a:p>
              <a:pPr algn="ctr">
                <a:lnSpc>
                  <a:spcPts val="2939"/>
                </a:lnSpc>
              </a:pPr>
            </a:p>
          </p:txBody>
        </p:sp>
      </p:grpSp>
      <p:sp>
        <p:nvSpPr>
          <p:cNvPr name="Freeform 9" id="9"/>
          <p:cNvSpPr/>
          <p:nvPr/>
        </p:nvSpPr>
        <p:spPr>
          <a:xfrm flipH="false" flipV="false" rot="0">
            <a:off x="-1553637" y="0"/>
            <a:ext cx="3677334" cy="910140"/>
          </a:xfrm>
          <a:custGeom>
            <a:avLst/>
            <a:gdLst/>
            <a:ahLst/>
            <a:cxnLst/>
            <a:rect r="r" b="b" t="t" l="l"/>
            <a:pathLst>
              <a:path h="910140" w="3677334">
                <a:moveTo>
                  <a:pt x="0" y="0"/>
                </a:moveTo>
                <a:lnTo>
                  <a:pt x="3677334" y="0"/>
                </a:lnTo>
                <a:lnTo>
                  <a:pt x="3677334" y="910140"/>
                </a:lnTo>
                <a:lnTo>
                  <a:pt x="0" y="91014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0" id="10"/>
          <p:cNvSpPr txBox="true"/>
          <p:nvPr/>
        </p:nvSpPr>
        <p:spPr>
          <a:xfrm rot="0">
            <a:off x="1353374" y="7309851"/>
            <a:ext cx="7465952" cy="2074545"/>
          </a:xfrm>
          <a:prstGeom prst="rect">
            <a:avLst/>
          </a:prstGeom>
        </p:spPr>
        <p:txBody>
          <a:bodyPr anchor="t" rtlCol="false" tIns="0" lIns="0" bIns="0" rIns="0">
            <a:spAutoFit/>
          </a:bodyPr>
          <a:lstStyle/>
          <a:p>
            <a:pPr algn="l" marL="453390" indent="-226695" lvl="1">
              <a:lnSpc>
                <a:spcPts val="3360"/>
              </a:lnSpc>
              <a:buFont typeface="Arial"/>
              <a:buChar char="•"/>
            </a:pPr>
            <a:r>
              <a:rPr lang="en-US" b="true" sz="2100" spc="105">
                <a:solidFill>
                  <a:srgbClr val="FFFFFF"/>
                </a:solidFill>
                <a:latin typeface="Quicksand Bold"/>
                <a:ea typeface="Quicksand Bold"/>
                <a:cs typeface="Quicksand Bold"/>
                <a:sym typeface="Quicksand Bold"/>
              </a:rPr>
              <a:t>Overall accuracy improved to 70%</a:t>
            </a:r>
          </a:p>
          <a:p>
            <a:pPr algn="l" marL="453390" indent="-226695" lvl="1">
              <a:lnSpc>
                <a:spcPts val="3360"/>
              </a:lnSpc>
              <a:buFont typeface="Arial"/>
              <a:buChar char="•"/>
            </a:pPr>
            <a:r>
              <a:rPr lang="en-US" b="true" sz="2100" spc="105">
                <a:solidFill>
                  <a:srgbClr val="FFFFFF"/>
                </a:solidFill>
                <a:latin typeface="Quicksand Bold"/>
                <a:ea typeface="Quicksand Bold"/>
                <a:cs typeface="Quicksand Bold"/>
                <a:sym typeface="Quicksand Bold"/>
              </a:rPr>
              <a:t>Balanced performance across classes (weighted avg F1-score 0.70)</a:t>
            </a:r>
          </a:p>
          <a:p>
            <a:pPr algn="l" marL="453390" indent="-226695" lvl="1">
              <a:lnSpc>
                <a:spcPts val="3360"/>
              </a:lnSpc>
              <a:buFont typeface="Arial"/>
              <a:buChar char="•"/>
            </a:pPr>
            <a:r>
              <a:rPr lang="en-US" b="true" sz="2100" spc="105">
                <a:solidFill>
                  <a:srgbClr val="FFFFFF"/>
                </a:solidFill>
                <a:latin typeface="Quicksand Bold"/>
                <a:ea typeface="Quicksand Bold"/>
                <a:cs typeface="Quicksand Bold"/>
                <a:sym typeface="Quicksand Bold"/>
              </a:rPr>
              <a:t>Neutral class remains strongest (F1-score 0.78)</a:t>
            </a:r>
          </a:p>
          <a:p>
            <a:pPr algn="l" marL="0" indent="0" lvl="0">
              <a:lnSpc>
                <a:spcPts val="3360"/>
              </a:lnSpc>
            </a:pPr>
          </a:p>
        </p:txBody>
      </p:sp>
      <p:sp>
        <p:nvSpPr>
          <p:cNvPr name="TextBox 11" id="11"/>
          <p:cNvSpPr txBox="true"/>
          <p:nvPr/>
        </p:nvSpPr>
        <p:spPr>
          <a:xfrm rot="0">
            <a:off x="9468674" y="7309851"/>
            <a:ext cx="7465952" cy="2074545"/>
          </a:xfrm>
          <a:prstGeom prst="rect">
            <a:avLst/>
          </a:prstGeom>
        </p:spPr>
        <p:txBody>
          <a:bodyPr anchor="t" rtlCol="false" tIns="0" lIns="0" bIns="0" rIns="0">
            <a:spAutoFit/>
          </a:bodyPr>
          <a:lstStyle/>
          <a:p>
            <a:pPr algn="l" marL="453390" indent="-226695" lvl="1">
              <a:lnSpc>
                <a:spcPts val="3360"/>
              </a:lnSpc>
              <a:buFont typeface="Arial"/>
              <a:buChar char="•"/>
            </a:pPr>
            <a:r>
              <a:rPr lang="en-US" sz="2100" spc="105">
                <a:solidFill>
                  <a:srgbClr val="000000"/>
                </a:solidFill>
                <a:latin typeface="Quicksand"/>
                <a:ea typeface="Quicksand"/>
                <a:cs typeface="Quicksand"/>
                <a:sym typeface="Quicksand"/>
              </a:rPr>
              <a:t>Noticeable improvement on Negative class (F1-score increased from 0.37 → 0.45)</a:t>
            </a:r>
          </a:p>
          <a:p>
            <a:pPr algn="l" marL="453390" indent="-226695" lvl="1">
              <a:lnSpc>
                <a:spcPts val="3360"/>
              </a:lnSpc>
              <a:buFont typeface="Arial"/>
              <a:buChar char="•"/>
            </a:pPr>
            <a:r>
              <a:rPr lang="en-US" sz="2100" spc="105">
                <a:solidFill>
                  <a:srgbClr val="000000"/>
                </a:solidFill>
                <a:latin typeface="Quicksand"/>
                <a:ea typeface="Quicksand"/>
                <a:cs typeface="Quicksand"/>
                <a:sym typeface="Quicksand"/>
              </a:rPr>
              <a:t>Better precision and recall balance compared to baseline Logistic Regression</a:t>
            </a:r>
          </a:p>
          <a:p>
            <a:pPr algn="ctr">
              <a:lnSpc>
                <a:spcPts val="3360"/>
              </a:lnSpc>
            </a:pPr>
          </a:p>
        </p:txBody>
      </p:sp>
      <p:sp>
        <p:nvSpPr>
          <p:cNvPr name="Freeform 12" id="12"/>
          <p:cNvSpPr/>
          <p:nvPr/>
        </p:nvSpPr>
        <p:spPr>
          <a:xfrm flipH="false" flipV="false" rot="0">
            <a:off x="16654773" y="8653773"/>
            <a:ext cx="1209054" cy="1209054"/>
          </a:xfrm>
          <a:custGeom>
            <a:avLst/>
            <a:gdLst/>
            <a:ahLst/>
            <a:cxnLst/>
            <a:rect r="r" b="b" t="t" l="l"/>
            <a:pathLst>
              <a:path h="1209054" w="1209054">
                <a:moveTo>
                  <a:pt x="0" y="0"/>
                </a:moveTo>
                <a:lnTo>
                  <a:pt x="1209054" y="0"/>
                </a:lnTo>
                <a:lnTo>
                  <a:pt x="1209054" y="1209054"/>
                </a:lnTo>
                <a:lnTo>
                  <a:pt x="0" y="120905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3" id="13"/>
          <p:cNvSpPr/>
          <p:nvPr/>
        </p:nvSpPr>
        <p:spPr>
          <a:xfrm flipH="false" flipV="false" rot="0">
            <a:off x="424173" y="8653773"/>
            <a:ext cx="1209054" cy="1209054"/>
          </a:xfrm>
          <a:custGeom>
            <a:avLst/>
            <a:gdLst/>
            <a:ahLst/>
            <a:cxnLst/>
            <a:rect r="r" b="b" t="t" l="l"/>
            <a:pathLst>
              <a:path h="1209054" w="1209054">
                <a:moveTo>
                  <a:pt x="0" y="0"/>
                </a:moveTo>
                <a:lnTo>
                  <a:pt x="1209054" y="0"/>
                </a:lnTo>
                <a:lnTo>
                  <a:pt x="1209054" y="1209054"/>
                </a:lnTo>
                <a:lnTo>
                  <a:pt x="0" y="120905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4" id="14"/>
          <p:cNvSpPr/>
          <p:nvPr/>
        </p:nvSpPr>
        <p:spPr>
          <a:xfrm flipH="false" flipV="false" rot="0">
            <a:off x="17089452" y="141160"/>
            <a:ext cx="1057026" cy="1057026"/>
          </a:xfrm>
          <a:custGeom>
            <a:avLst/>
            <a:gdLst/>
            <a:ahLst/>
            <a:cxnLst/>
            <a:rect r="r" b="b" t="t" l="l"/>
            <a:pathLst>
              <a:path h="1057026" w="1057026">
                <a:moveTo>
                  <a:pt x="0" y="0"/>
                </a:moveTo>
                <a:lnTo>
                  <a:pt x="1057026" y="0"/>
                </a:lnTo>
                <a:lnTo>
                  <a:pt x="1057026" y="1057026"/>
                </a:lnTo>
                <a:lnTo>
                  <a:pt x="0" y="1057026"/>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5" id="15"/>
          <p:cNvSpPr/>
          <p:nvPr/>
        </p:nvSpPr>
        <p:spPr>
          <a:xfrm flipH="false" flipV="false" rot="0">
            <a:off x="11901133" y="2438811"/>
            <a:ext cx="5358167" cy="3552697"/>
          </a:xfrm>
          <a:custGeom>
            <a:avLst/>
            <a:gdLst/>
            <a:ahLst/>
            <a:cxnLst/>
            <a:rect r="r" b="b" t="t" l="l"/>
            <a:pathLst>
              <a:path h="3552697" w="5358167">
                <a:moveTo>
                  <a:pt x="0" y="0"/>
                </a:moveTo>
                <a:lnTo>
                  <a:pt x="5358167" y="0"/>
                </a:lnTo>
                <a:lnTo>
                  <a:pt x="5358167" y="3552698"/>
                </a:lnTo>
                <a:lnTo>
                  <a:pt x="0" y="3552698"/>
                </a:lnTo>
                <a:lnTo>
                  <a:pt x="0" y="0"/>
                </a:lnTo>
                <a:close/>
              </a:path>
            </a:pathLst>
          </a:custGeom>
          <a:blipFill>
            <a:blip r:embed="rId12"/>
            <a:stretch>
              <a:fillRect l="0" t="0" r="0" b="0"/>
            </a:stretch>
          </a:blipFill>
        </p:spPr>
      </p:sp>
      <p:sp>
        <p:nvSpPr>
          <p:cNvPr name="Freeform 16" id="16"/>
          <p:cNvSpPr/>
          <p:nvPr/>
        </p:nvSpPr>
        <p:spPr>
          <a:xfrm flipH="false" flipV="false" rot="0">
            <a:off x="424173" y="2344324"/>
            <a:ext cx="10811870" cy="4562808"/>
          </a:xfrm>
          <a:custGeom>
            <a:avLst/>
            <a:gdLst/>
            <a:ahLst/>
            <a:cxnLst/>
            <a:rect r="r" b="b" t="t" l="l"/>
            <a:pathLst>
              <a:path h="4562808" w="10811870">
                <a:moveTo>
                  <a:pt x="0" y="0"/>
                </a:moveTo>
                <a:lnTo>
                  <a:pt x="10811871" y="0"/>
                </a:lnTo>
                <a:lnTo>
                  <a:pt x="10811871" y="4562808"/>
                </a:lnTo>
                <a:lnTo>
                  <a:pt x="0" y="4562808"/>
                </a:lnTo>
                <a:lnTo>
                  <a:pt x="0" y="0"/>
                </a:lnTo>
                <a:close/>
              </a:path>
            </a:pathLst>
          </a:custGeom>
          <a:blipFill>
            <a:blip r:embed="rId13"/>
            <a:stretch>
              <a:fillRect l="0" t="0" r="0" b="0"/>
            </a:stretch>
          </a:blipFill>
        </p:spPr>
      </p:sp>
      <p:sp>
        <p:nvSpPr>
          <p:cNvPr name="TextBox 17" id="17"/>
          <p:cNvSpPr txBox="true"/>
          <p:nvPr/>
        </p:nvSpPr>
        <p:spPr>
          <a:xfrm rot="0">
            <a:off x="4535193" y="451785"/>
            <a:ext cx="9217614" cy="1623640"/>
          </a:xfrm>
          <a:prstGeom prst="rect">
            <a:avLst/>
          </a:prstGeom>
        </p:spPr>
        <p:txBody>
          <a:bodyPr anchor="t" rtlCol="false" tIns="0" lIns="0" bIns="0" rIns="0">
            <a:spAutoFit/>
          </a:bodyPr>
          <a:lstStyle/>
          <a:p>
            <a:pPr algn="ctr" marL="0" indent="0" lvl="0">
              <a:lnSpc>
                <a:spcPts val="9650"/>
              </a:lnSpc>
            </a:pPr>
            <a:r>
              <a:rPr lang="en-US" sz="8391">
                <a:solidFill>
                  <a:srgbClr val="BD3414"/>
                </a:solidFill>
                <a:latin typeface="Archivo Black"/>
                <a:ea typeface="Archivo Black"/>
                <a:cs typeface="Archivo Black"/>
                <a:sym typeface="Archivo Black"/>
              </a:rPr>
              <a:t>Tuned XGBoost</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EBDBCC"/>
        </a:solidFill>
      </p:bgPr>
    </p:bg>
    <p:spTree>
      <p:nvGrpSpPr>
        <p:cNvPr id="1" name=""/>
        <p:cNvGrpSpPr/>
        <p:nvPr/>
      </p:nvGrpSpPr>
      <p:grpSpPr>
        <a:xfrm>
          <a:off x="0" y="0"/>
          <a:ext cx="0" cy="0"/>
          <a:chOff x="0" y="0"/>
          <a:chExt cx="0" cy="0"/>
        </a:xfrm>
      </p:grpSpPr>
      <p:sp>
        <p:nvSpPr>
          <p:cNvPr name="Freeform 2" id="2"/>
          <p:cNvSpPr/>
          <p:nvPr/>
        </p:nvSpPr>
        <p:spPr>
          <a:xfrm flipH="false" flipV="false" rot="0">
            <a:off x="3293651" y="-2116947"/>
            <a:ext cx="11700697" cy="11700697"/>
          </a:xfrm>
          <a:custGeom>
            <a:avLst/>
            <a:gdLst/>
            <a:ahLst/>
            <a:cxnLst/>
            <a:rect r="r" b="b" t="t" l="l"/>
            <a:pathLst>
              <a:path h="11700697" w="11700697">
                <a:moveTo>
                  <a:pt x="0" y="0"/>
                </a:moveTo>
                <a:lnTo>
                  <a:pt x="11700698" y="0"/>
                </a:lnTo>
                <a:lnTo>
                  <a:pt x="11700698" y="11700698"/>
                </a:lnTo>
                <a:lnTo>
                  <a:pt x="0" y="11700698"/>
                </a:lnTo>
                <a:lnTo>
                  <a:pt x="0" y="0"/>
                </a:lnTo>
                <a:close/>
              </a:path>
            </a:pathLst>
          </a:custGeom>
          <a:blipFill>
            <a:blip r:embed="rId2">
              <a:alphaModFix amt="18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45456" y="8800022"/>
            <a:ext cx="1567457" cy="1567457"/>
          </a:xfrm>
          <a:custGeom>
            <a:avLst/>
            <a:gdLst/>
            <a:ahLst/>
            <a:cxnLst/>
            <a:rect r="r" b="b" t="t" l="l"/>
            <a:pathLst>
              <a:path h="1567457" w="1567457">
                <a:moveTo>
                  <a:pt x="0" y="0"/>
                </a:moveTo>
                <a:lnTo>
                  <a:pt x="1567457" y="0"/>
                </a:lnTo>
                <a:lnTo>
                  <a:pt x="1567457" y="1567457"/>
                </a:lnTo>
                <a:lnTo>
                  <a:pt x="0" y="156745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6299883" y="8153867"/>
            <a:ext cx="2133133" cy="2133133"/>
          </a:xfrm>
          <a:custGeom>
            <a:avLst/>
            <a:gdLst/>
            <a:ahLst/>
            <a:cxnLst/>
            <a:rect r="r" b="b" t="t" l="l"/>
            <a:pathLst>
              <a:path h="2133133" w="2133133">
                <a:moveTo>
                  <a:pt x="0" y="0"/>
                </a:moveTo>
                <a:lnTo>
                  <a:pt x="2133132" y="0"/>
                </a:lnTo>
                <a:lnTo>
                  <a:pt x="2133132" y="2133133"/>
                </a:lnTo>
                <a:lnTo>
                  <a:pt x="0" y="213313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aphicFrame>
        <p:nvGraphicFramePr>
          <p:cNvPr name="Table 5" id="5"/>
          <p:cNvGraphicFramePr>
            <a:graphicFrameLocks noGrp="true"/>
          </p:cNvGraphicFramePr>
          <p:nvPr/>
        </p:nvGraphicFramePr>
        <p:xfrm>
          <a:off x="-72508" y="1636063"/>
          <a:ext cx="18433015" cy="9639099"/>
        </p:xfrm>
        <a:graphic>
          <a:graphicData uri="http://schemas.openxmlformats.org/drawingml/2006/table">
            <a:tbl>
              <a:tblPr/>
              <a:tblGrid>
                <a:gridCol w="2208060"/>
                <a:gridCol w="8028387"/>
                <a:gridCol w="8196568"/>
              </a:tblGrid>
              <a:tr h="1051200">
                <a:tc>
                  <a:txBody>
                    <a:bodyPr anchor="t" rtlCol="false"/>
                    <a:lstStyle/>
                    <a:p>
                      <a:pPr algn="ctr">
                        <a:lnSpc>
                          <a:spcPts val="2800"/>
                        </a:lnSpc>
                        <a:defRPr/>
                      </a:pPr>
                      <a:endParaRPr lang="en-US" sz="1100"/>
                    </a:p>
                  </a:txBody>
                  <a:tcPr marL="190500" marR="190500" marT="190500" marB="190500" anchor="ctr">
                    <a:lnL cmpd="sng" algn="ctr" cap="flat" w="47625">
                      <a:solidFill>
                        <a:srgbClr val="BD3414"/>
                      </a:solidFill>
                      <a:prstDash val="solid"/>
                      <a:round/>
                      <a:headEnd type="none" w="med" len="med"/>
                      <a:tailEnd type="none" w="med" len="med"/>
                    </a:lnL>
                    <a:lnR cmpd="sng" algn="ctr" cap="flat" w="47625">
                      <a:solidFill>
                        <a:srgbClr val="BD3414"/>
                      </a:solidFill>
                      <a:prstDash val="solid"/>
                      <a:round/>
                      <a:headEnd type="none" w="med" len="med"/>
                      <a:tailEnd type="none" w="med" len="med"/>
                    </a:lnR>
                    <a:lnT cmpd="sng" algn="ctr" cap="flat" w="47625">
                      <a:solidFill>
                        <a:srgbClr val="BD3414"/>
                      </a:solidFill>
                      <a:prstDash val="solid"/>
                      <a:round/>
                      <a:headEnd type="none" w="med" len="med"/>
                      <a:tailEnd type="none" w="med" len="med"/>
                    </a:lnT>
                    <a:lnB cmpd="sng" algn="ctr" cap="flat" w="47625">
                      <a:solidFill>
                        <a:srgbClr val="BD3414"/>
                      </a:solidFill>
                      <a:prstDash val="solid"/>
                      <a:round/>
                      <a:headEnd type="none" w="med" len="med"/>
                      <a:tailEnd type="none" w="med" len="med"/>
                    </a:lnB>
                    <a:solidFill>
                      <a:srgbClr val="000000"/>
                    </a:solidFill>
                  </a:tcPr>
                </a:tc>
                <a:tc>
                  <a:txBody>
                    <a:bodyPr anchor="t" rtlCol="false"/>
                    <a:lstStyle/>
                    <a:p>
                      <a:pPr algn="ctr">
                        <a:lnSpc>
                          <a:spcPts val="3499"/>
                        </a:lnSpc>
                        <a:defRPr/>
                      </a:pPr>
                      <a:r>
                        <a:rPr lang="en-US" sz="2499">
                          <a:solidFill>
                            <a:srgbClr val="FFFFFF"/>
                          </a:solidFill>
                          <a:latin typeface="Quicksand"/>
                          <a:ea typeface="Quicksand"/>
                          <a:cs typeface="Quicksand"/>
                          <a:sym typeface="Quicksand"/>
                        </a:rPr>
                        <a:t>Logistic Regression</a:t>
                      </a:r>
                      <a:endParaRPr lang="en-US" sz="1100"/>
                    </a:p>
                  </a:txBody>
                  <a:tcPr marL="190500" marR="190500" marT="190500" marB="190500" anchor="ctr">
                    <a:lnL cmpd="sng" algn="ctr" cap="flat" w="47625">
                      <a:solidFill>
                        <a:srgbClr val="BD3414"/>
                      </a:solidFill>
                      <a:prstDash val="solid"/>
                      <a:round/>
                      <a:headEnd type="none" w="med" len="med"/>
                      <a:tailEnd type="none" w="med" len="med"/>
                    </a:lnL>
                    <a:lnR cmpd="sng" algn="ctr" cap="flat" w="47625">
                      <a:solidFill>
                        <a:srgbClr val="BD3414"/>
                      </a:solidFill>
                      <a:prstDash val="solid"/>
                      <a:round/>
                      <a:headEnd type="none" w="med" len="med"/>
                      <a:tailEnd type="none" w="med" len="med"/>
                    </a:lnR>
                    <a:lnT cmpd="sng" algn="ctr" cap="flat" w="47625">
                      <a:solidFill>
                        <a:srgbClr val="BD3414"/>
                      </a:solidFill>
                      <a:prstDash val="solid"/>
                      <a:round/>
                      <a:headEnd type="none" w="med" len="med"/>
                      <a:tailEnd type="none" w="med" len="med"/>
                    </a:lnT>
                    <a:lnB cmpd="sng" algn="ctr" cap="flat" w="47625">
                      <a:solidFill>
                        <a:srgbClr val="BD3414"/>
                      </a:solidFill>
                      <a:prstDash val="solid"/>
                      <a:round/>
                      <a:headEnd type="none" w="med" len="med"/>
                      <a:tailEnd type="none" w="med" len="med"/>
                    </a:lnB>
                    <a:solidFill>
                      <a:srgbClr val="BD3414"/>
                    </a:solidFill>
                  </a:tcPr>
                </a:tc>
                <a:tc>
                  <a:txBody>
                    <a:bodyPr anchor="t" rtlCol="false"/>
                    <a:lstStyle/>
                    <a:p>
                      <a:pPr algn="ctr">
                        <a:lnSpc>
                          <a:spcPts val="3499"/>
                        </a:lnSpc>
                        <a:defRPr/>
                      </a:pPr>
                      <a:r>
                        <a:rPr lang="en-US" sz="2499" b="true">
                          <a:solidFill>
                            <a:srgbClr val="FFFFFF"/>
                          </a:solidFill>
                          <a:latin typeface="Quicksand Bold"/>
                          <a:ea typeface="Quicksand Bold"/>
                          <a:cs typeface="Quicksand Bold"/>
                          <a:sym typeface="Quicksand Bold"/>
                        </a:rPr>
                        <a:t>Brand A</a:t>
                      </a:r>
                      <a:endParaRPr lang="en-US" sz="1100"/>
                    </a:p>
                  </a:txBody>
                  <a:tcPr marL="190500" marR="190500" marT="190500" marB="190500" anchor="ctr">
                    <a:lnL cmpd="sng" algn="ctr" cap="flat" w="47625">
                      <a:solidFill>
                        <a:srgbClr val="BD3414"/>
                      </a:solidFill>
                      <a:prstDash val="solid"/>
                      <a:round/>
                      <a:headEnd type="none" w="med" len="med"/>
                      <a:tailEnd type="none" w="med" len="med"/>
                    </a:lnL>
                    <a:lnR cmpd="sng" algn="ctr" cap="flat" w="47625">
                      <a:solidFill>
                        <a:srgbClr val="BD3414"/>
                      </a:solidFill>
                      <a:prstDash val="solid"/>
                      <a:round/>
                      <a:headEnd type="none" w="med" len="med"/>
                      <a:tailEnd type="none" w="med" len="med"/>
                    </a:lnR>
                    <a:lnT cmpd="sng" algn="ctr" cap="flat" w="47625">
                      <a:solidFill>
                        <a:srgbClr val="BD3414"/>
                      </a:solidFill>
                      <a:prstDash val="solid"/>
                      <a:round/>
                      <a:headEnd type="none" w="med" len="med"/>
                      <a:tailEnd type="none" w="med" len="med"/>
                    </a:lnT>
                    <a:lnB cmpd="sng" algn="ctr" cap="flat" w="47625">
                      <a:solidFill>
                        <a:srgbClr val="BD3414"/>
                      </a:solidFill>
                      <a:prstDash val="solid"/>
                      <a:round/>
                      <a:headEnd type="none" w="med" len="med"/>
                      <a:tailEnd type="none" w="med" len="med"/>
                    </a:lnB>
                    <a:solidFill>
                      <a:srgbClr val="BD3414"/>
                    </a:solidFill>
                  </a:tcPr>
                </a:tc>
              </a:tr>
              <a:tr h="4038645">
                <a:tc>
                  <a:txBody>
                    <a:bodyPr anchor="t" rtlCol="false"/>
                    <a:lstStyle/>
                    <a:p>
                      <a:pPr algn="ctr">
                        <a:lnSpc>
                          <a:spcPts val="3499"/>
                        </a:lnSpc>
                        <a:defRPr/>
                      </a:pPr>
                      <a:r>
                        <a:rPr lang="en-US" sz="2499" b="true">
                          <a:solidFill>
                            <a:srgbClr val="FFFFFF"/>
                          </a:solidFill>
                          <a:latin typeface="Quicksand Bold"/>
                          <a:ea typeface="Quicksand Bold"/>
                          <a:cs typeface="Quicksand Bold"/>
                          <a:sym typeface="Quicksand Bold"/>
                        </a:rPr>
                        <a:t>Strength</a:t>
                      </a:r>
                      <a:endParaRPr lang="en-US" sz="1100"/>
                    </a:p>
                  </a:txBody>
                  <a:tcPr marL="190500" marR="190500" marT="190500" marB="190500" anchor="ctr">
                    <a:lnL cmpd="sng" algn="ctr" cap="flat" w="47625">
                      <a:solidFill>
                        <a:srgbClr val="296EB5"/>
                      </a:solidFill>
                      <a:prstDash val="solid"/>
                      <a:round/>
                      <a:headEnd type="none" w="med" len="med"/>
                      <a:tailEnd type="none" w="med" len="med"/>
                    </a:lnL>
                    <a:lnR cmpd="sng" algn="ctr" cap="flat" w="47625">
                      <a:solidFill>
                        <a:srgbClr val="296EB5"/>
                      </a:solidFill>
                      <a:prstDash val="solid"/>
                      <a:round/>
                      <a:headEnd type="none" w="med" len="med"/>
                      <a:tailEnd type="none" w="med" len="med"/>
                    </a:lnR>
                    <a:lnT cmpd="sng" algn="ctr" cap="flat" w="47625">
                      <a:solidFill>
                        <a:srgbClr val="296EB5"/>
                      </a:solidFill>
                      <a:prstDash val="solid"/>
                      <a:round/>
                      <a:headEnd type="none" w="med" len="med"/>
                      <a:tailEnd type="none" w="med" len="med"/>
                    </a:lnT>
                    <a:lnB cmpd="sng" algn="ctr" cap="flat" w="47625">
                      <a:solidFill>
                        <a:srgbClr val="296EB5"/>
                      </a:solidFill>
                      <a:prstDash val="solid"/>
                      <a:round/>
                      <a:headEnd type="none" w="med" len="med"/>
                      <a:tailEnd type="none" w="med" len="med"/>
                    </a:lnB>
                    <a:solidFill>
                      <a:srgbClr val="296EB5"/>
                    </a:solidFill>
                  </a:tcPr>
                </a:tc>
                <a:tc>
                  <a:txBody>
                    <a:bodyPr anchor="t" rtlCol="false"/>
                    <a:lstStyle/>
                    <a:p>
                      <a:pPr algn="l">
                        <a:lnSpc>
                          <a:spcPts val="2550"/>
                        </a:lnSpc>
                        <a:defRPr/>
                      </a:pPr>
                      <a:r>
                        <a:rPr lang="en-US" sz="1700" spc="85" b="true">
                          <a:solidFill>
                            <a:srgbClr val="000000"/>
                          </a:solidFill>
                          <a:latin typeface="Quicksand Bold"/>
                          <a:ea typeface="Quicksand Bold"/>
                          <a:cs typeface="Quicksand Bold"/>
                          <a:sym typeface="Quicksand Bold"/>
                        </a:rPr>
                        <a:t>Higher Negative recall (0.61) hence useful if the priority is catching every negative tweet even at the cost of false alarms, for example in brand reputation monitoring where missing a negative is costly Faster to train, simpler to interpret and deploy Less prone to overfitting on small datasets</a:t>
                      </a:r>
                      <a:endParaRPr lang="en-US" sz="1100"/>
                    </a:p>
                  </a:txBody>
                  <a:tcPr marL="190500" marR="190500" marT="190500" marB="190500" anchor="ctr">
                    <a:lnL cmpd="sng" algn="ctr" cap="flat" w="47625">
                      <a:solidFill>
                        <a:srgbClr val="DA9939"/>
                      </a:solidFill>
                      <a:prstDash val="solid"/>
                      <a:round/>
                      <a:headEnd type="none" w="med" len="med"/>
                      <a:tailEnd type="none" w="med" len="med"/>
                    </a:lnL>
                    <a:lnR cmpd="sng" algn="ctr" cap="flat" w="47625">
                      <a:solidFill>
                        <a:srgbClr val="DA9939"/>
                      </a:solidFill>
                      <a:prstDash val="solid"/>
                      <a:round/>
                      <a:headEnd type="none" w="med" len="med"/>
                      <a:tailEnd type="none" w="med" len="med"/>
                    </a:lnR>
                    <a:lnT cmpd="sng" algn="ctr" cap="flat" w="47625">
                      <a:solidFill>
                        <a:srgbClr val="DA9939"/>
                      </a:solidFill>
                      <a:prstDash val="solid"/>
                      <a:round/>
                      <a:headEnd type="none" w="med" len="med"/>
                      <a:tailEnd type="none" w="med" len="med"/>
                    </a:lnT>
                    <a:lnB cmpd="sng" algn="ctr" cap="flat" w="47625">
                      <a:solidFill>
                        <a:srgbClr val="DA9939"/>
                      </a:solidFill>
                      <a:prstDash val="solid"/>
                      <a:round/>
                      <a:headEnd type="none" w="med" len="med"/>
                      <a:tailEnd type="none" w="med" len="med"/>
                    </a:lnB>
                    <a:solidFill>
                      <a:srgbClr val="F6D7A5"/>
                    </a:solidFill>
                  </a:tcPr>
                </a:tc>
                <a:tc>
                  <a:txBody>
                    <a:bodyPr anchor="t" rtlCol="false"/>
                    <a:lstStyle/>
                    <a:p>
                      <a:pPr algn="l">
                        <a:lnSpc>
                          <a:spcPts val="2379"/>
                        </a:lnSpc>
                        <a:defRPr/>
                      </a:pPr>
                      <a:r>
                        <a:rPr lang="en-US" sz="1699" b="true">
                          <a:solidFill>
                            <a:srgbClr val="212121"/>
                          </a:solidFill>
                          <a:latin typeface="Quicksand Bold"/>
                          <a:ea typeface="Quicksand Bold"/>
                          <a:cs typeface="Quicksand Bold"/>
                          <a:sym typeface="Quicksand Bold"/>
                        </a:rPr>
                        <a:t>Best performance across every aggregate metric accuracy, macro F1, weighted F1 More balanced precision recall tradeoff on the Negative class — less noisy predictions Handles non-linear relationships in the 384 dimensional embedding space through ensemble tree splitting Hyperparameter tuning (max_depth=8, subsample=0.8, colsample_bytree=1.0) reduces overfitting while capturing complex patterns subsample=0.8 introduces regularization that prevents the model from memorising dominant Neutral patterns at the expense of minority classes</a:t>
                      </a:r>
                      <a:endParaRPr lang="en-US" sz="1100"/>
                    </a:p>
                  </a:txBody>
                  <a:tcPr marL="190500" marR="190500" marT="190500" marB="190500" anchor="ctr">
                    <a:lnL cmpd="sng" algn="ctr" cap="flat" w="47625">
                      <a:solidFill>
                        <a:srgbClr val="DA9939"/>
                      </a:solidFill>
                      <a:prstDash val="solid"/>
                      <a:round/>
                      <a:headEnd type="none" w="med" len="med"/>
                      <a:tailEnd type="none" w="med" len="med"/>
                    </a:lnL>
                    <a:lnR cmpd="sng" algn="ctr" cap="flat" w="47625">
                      <a:solidFill>
                        <a:srgbClr val="DA9939"/>
                      </a:solidFill>
                      <a:prstDash val="solid"/>
                      <a:round/>
                      <a:headEnd type="none" w="med" len="med"/>
                      <a:tailEnd type="none" w="med" len="med"/>
                    </a:lnR>
                    <a:lnT cmpd="sng" algn="ctr" cap="flat" w="47625">
                      <a:solidFill>
                        <a:srgbClr val="DA9939"/>
                      </a:solidFill>
                      <a:prstDash val="solid"/>
                      <a:round/>
                      <a:headEnd type="none" w="med" len="med"/>
                      <a:tailEnd type="none" w="med" len="med"/>
                    </a:lnT>
                    <a:lnB cmpd="sng" algn="ctr" cap="flat" w="47625">
                      <a:solidFill>
                        <a:srgbClr val="DA9939"/>
                      </a:solidFill>
                      <a:prstDash val="solid"/>
                      <a:round/>
                      <a:headEnd type="none" w="med" len="med"/>
                      <a:tailEnd type="none" w="med" len="med"/>
                    </a:lnB>
                    <a:solidFill>
                      <a:srgbClr val="F6D7A5"/>
                    </a:solidFill>
                  </a:tcPr>
                </a:tc>
              </a:tr>
              <a:tr h="4549254">
                <a:tc>
                  <a:txBody>
                    <a:bodyPr anchor="t" rtlCol="false"/>
                    <a:lstStyle/>
                    <a:p>
                      <a:pPr algn="ctr">
                        <a:lnSpc>
                          <a:spcPts val="3499"/>
                        </a:lnSpc>
                        <a:defRPr/>
                      </a:pPr>
                      <a:r>
                        <a:rPr lang="en-US" sz="2499" b="true">
                          <a:solidFill>
                            <a:srgbClr val="FFFFFF"/>
                          </a:solidFill>
                          <a:latin typeface="Quicksand Bold"/>
                          <a:ea typeface="Quicksand Bold"/>
                          <a:cs typeface="Quicksand Bold"/>
                          <a:sym typeface="Quicksand Bold"/>
                        </a:rPr>
                        <a:t>Weakness</a:t>
                      </a:r>
                      <a:endParaRPr lang="en-US" sz="1100"/>
                    </a:p>
                  </a:txBody>
                  <a:tcPr marL="190500" marR="190500" marT="190500" marB="190500" anchor="ctr">
                    <a:lnL cmpd="sng" algn="ctr" cap="flat" w="47625">
                      <a:solidFill>
                        <a:srgbClr val="296EB5"/>
                      </a:solidFill>
                      <a:prstDash val="solid"/>
                      <a:round/>
                      <a:headEnd type="none" w="med" len="med"/>
                      <a:tailEnd type="none" w="med" len="med"/>
                    </a:lnL>
                    <a:lnR cmpd="sng" algn="ctr" cap="flat" w="47625">
                      <a:solidFill>
                        <a:srgbClr val="296EB5"/>
                      </a:solidFill>
                      <a:prstDash val="solid"/>
                      <a:round/>
                      <a:headEnd type="none" w="med" len="med"/>
                      <a:tailEnd type="none" w="med" len="med"/>
                    </a:lnR>
                    <a:lnT cmpd="sng" algn="ctr" cap="flat" w="47625">
                      <a:solidFill>
                        <a:srgbClr val="296EB5"/>
                      </a:solidFill>
                      <a:prstDash val="solid"/>
                      <a:round/>
                      <a:headEnd type="none" w="med" len="med"/>
                      <a:tailEnd type="none" w="med" len="med"/>
                    </a:lnT>
                    <a:lnB cmpd="sng" algn="ctr" cap="flat" w="47625">
                      <a:solidFill>
                        <a:srgbClr val="296EB5"/>
                      </a:solidFill>
                      <a:prstDash val="solid"/>
                      <a:round/>
                      <a:headEnd type="none" w="med" len="med"/>
                      <a:tailEnd type="none" w="med" len="med"/>
                    </a:lnB>
                    <a:solidFill>
                      <a:srgbClr val="296EB5"/>
                    </a:solidFill>
                  </a:tcPr>
                </a:tc>
                <a:tc>
                  <a:txBody>
                    <a:bodyPr anchor="t" rtlCol="false"/>
                    <a:lstStyle/>
                    <a:p>
                      <a:pPr algn="l">
                        <a:lnSpc>
                          <a:spcPts val="2550"/>
                        </a:lnSpc>
                        <a:defRPr/>
                      </a:pPr>
                      <a:r>
                        <a:rPr lang="en-US" sz="1700" spc="85" b="true">
                          <a:solidFill>
                            <a:srgbClr val="000000"/>
                          </a:solidFill>
                          <a:latin typeface="Quicksand Bold"/>
                          <a:ea typeface="Quicksand Bold"/>
                          <a:cs typeface="Quicksand Bold"/>
                          <a:sym typeface="Quicksand Bold"/>
                        </a:rPr>
                        <a:t>Severely low Negative precision (0.26) nearly three quarters of its Negative predictions are wrong, making it unreliable in practice Lower overall accuracy (0.63) and macro F1 (0.55) Assumes a linear decision boundary between classes, which is insufficient for the complex non-linear relationships in sentiment embedding space Poor Neutral recall (0.65) suggests it struggles to hold the boundary between Neutral and the other two classes</a:t>
                      </a:r>
                      <a:endParaRPr lang="en-US" sz="1100"/>
                    </a:p>
                  </a:txBody>
                  <a:tcPr marL="190500" marR="190500" marT="190500" marB="190500" anchor="ctr">
                    <a:lnL cmpd="sng" algn="ctr" cap="flat" w="47625">
                      <a:solidFill>
                        <a:srgbClr val="DA9939"/>
                      </a:solidFill>
                      <a:prstDash val="solid"/>
                      <a:round/>
                      <a:headEnd type="none" w="med" len="med"/>
                      <a:tailEnd type="none" w="med" len="med"/>
                    </a:lnL>
                    <a:lnR cmpd="sng" algn="ctr" cap="flat" w="47625">
                      <a:solidFill>
                        <a:srgbClr val="DA9939"/>
                      </a:solidFill>
                      <a:prstDash val="solid"/>
                      <a:round/>
                      <a:headEnd type="none" w="med" len="med"/>
                      <a:tailEnd type="none" w="med" len="med"/>
                    </a:lnR>
                    <a:lnT cmpd="sng" algn="ctr" cap="flat" w="47625">
                      <a:solidFill>
                        <a:srgbClr val="DA9939"/>
                      </a:solidFill>
                      <a:prstDash val="solid"/>
                      <a:round/>
                      <a:headEnd type="none" w="med" len="med"/>
                      <a:tailEnd type="none" w="med" len="med"/>
                    </a:lnT>
                    <a:lnB cmpd="sng" algn="ctr" cap="flat" w="47625">
                      <a:solidFill>
                        <a:srgbClr val="DA9939"/>
                      </a:solidFill>
                      <a:prstDash val="solid"/>
                      <a:round/>
                      <a:headEnd type="none" w="med" len="med"/>
                      <a:tailEnd type="none" w="med" len="med"/>
                    </a:lnB>
                    <a:solidFill>
                      <a:srgbClr val="F6D7A5"/>
                    </a:solidFill>
                  </a:tcPr>
                </a:tc>
                <a:tc>
                  <a:txBody>
                    <a:bodyPr anchor="t" rtlCol="false"/>
                    <a:lstStyle/>
                    <a:p>
                      <a:pPr algn="l">
                        <a:lnSpc>
                          <a:spcPts val="2550"/>
                        </a:lnSpc>
                        <a:defRPr/>
                      </a:pPr>
                      <a:r>
                        <a:rPr lang="en-US" sz="1700" spc="85" b="true">
                          <a:solidFill>
                            <a:srgbClr val="000000"/>
                          </a:solidFill>
                          <a:latin typeface="Quicksand Bold"/>
                          <a:ea typeface="Quicksand Bold"/>
                          <a:cs typeface="Quicksand Bold"/>
                          <a:sym typeface="Quicksand Bold"/>
                        </a:rPr>
                        <a:t>Lower Negative recall (0.40) still misses 60% of actual negative tweets, which remains a real weakness Computationally expensive grid search took significantly longer than Logistic Regression Less interpretable than Logistic Regression harder to explain individual predictions Still limited by the 109 Negative training samples no model can fully overcome this data scarcity</a:t>
                      </a:r>
                      <a:endParaRPr lang="en-US" sz="1100"/>
                    </a:p>
                  </a:txBody>
                  <a:tcPr marL="190500" marR="190500" marT="190500" marB="190500" anchor="ctr">
                    <a:lnL cmpd="sng" algn="ctr" cap="flat" w="47625">
                      <a:solidFill>
                        <a:srgbClr val="DA9939"/>
                      </a:solidFill>
                      <a:prstDash val="solid"/>
                      <a:round/>
                      <a:headEnd type="none" w="med" len="med"/>
                      <a:tailEnd type="none" w="med" len="med"/>
                    </a:lnL>
                    <a:lnR cmpd="sng" algn="ctr" cap="flat" w="47625">
                      <a:solidFill>
                        <a:srgbClr val="DA9939"/>
                      </a:solidFill>
                      <a:prstDash val="solid"/>
                      <a:round/>
                      <a:headEnd type="none" w="med" len="med"/>
                      <a:tailEnd type="none" w="med" len="med"/>
                    </a:lnR>
                    <a:lnT cmpd="sng" algn="ctr" cap="flat" w="47625">
                      <a:solidFill>
                        <a:srgbClr val="DA9939"/>
                      </a:solidFill>
                      <a:prstDash val="solid"/>
                      <a:round/>
                      <a:headEnd type="none" w="med" len="med"/>
                      <a:tailEnd type="none" w="med" len="med"/>
                    </a:lnT>
                    <a:lnB cmpd="sng" algn="ctr" cap="flat" w="47625">
                      <a:solidFill>
                        <a:srgbClr val="DA9939"/>
                      </a:solidFill>
                      <a:prstDash val="solid"/>
                      <a:round/>
                      <a:headEnd type="none" w="med" len="med"/>
                      <a:tailEnd type="none" w="med" len="med"/>
                    </a:lnB>
                    <a:solidFill>
                      <a:srgbClr val="F6D7A5"/>
                    </a:solidFill>
                  </a:tcPr>
                </a:tc>
              </a:tr>
            </a:tbl>
          </a:graphicData>
        </a:graphic>
      </p:graphicFrame>
      <p:sp>
        <p:nvSpPr>
          <p:cNvPr name="TextBox 6" id="6"/>
          <p:cNvSpPr txBox="true"/>
          <p:nvPr/>
        </p:nvSpPr>
        <p:spPr>
          <a:xfrm rot="0">
            <a:off x="1028700" y="442260"/>
            <a:ext cx="16230600" cy="1193803"/>
          </a:xfrm>
          <a:prstGeom prst="rect">
            <a:avLst/>
          </a:prstGeom>
        </p:spPr>
        <p:txBody>
          <a:bodyPr anchor="t" rtlCol="false" tIns="0" lIns="0" bIns="0" rIns="0">
            <a:spAutoFit/>
          </a:bodyPr>
          <a:lstStyle/>
          <a:p>
            <a:pPr algn="ctr" marL="0" indent="0" lvl="0">
              <a:lnSpc>
                <a:spcPts val="9200"/>
              </a:lnSpc>
            </a:pPr>
            <a:r>
              <a:rPr lang="en-US" sz="8000">
                <a:solidFill>
                  <a:srgbClr val="BD3414"/>
                </a:solidFill>
                <a:latin typeface="Archivo Black"/>
                <a:ea typeface="Archivo Black"/>
                <a:cs typeface="Archivo Black"/>
                <a:sym typeface="Archivo Black"/>
              </a:rPr>
              <a:t>Competitor Analysis</a:t>
            </a:r>
          </a:p>
        </p:txBody>
      </p:sp>
      <p:sp>
        <p:nvSpPr>
          <p:cNvPr name="Freeform 7" id="7"/>
          <p:cNvSpPr/>
          <p:nvPr/>
        </p:nvSpPr>
        <p:spPr>
          <a:xfrm flipH="false" flipV="false" rot="0">
            <a:off x="171805" y="2435855"/>
            <a:ext cx="1713789" cy="424163"/>
          </a:xfrm>
          <a:custGeom>
            <a:avLst/>
            <a:gdLst/>
            <a:ahLst/>
            <a:cxnLst/>
            <a:rect r="r" b="b" t="t" l="l"/>
            <a:pathLst>
              <a:path h="424163" w="1713789">
                <a:moveTo>
                  <a:pt x="0" y="0"/>
                </a:moveTo>
                <a:lnTo>
                  <a:pt x="1713790" y="0"/>
                </a:lnTo>
                <a:lnTo>
                  <a:pt x="1713790" y="424163"/>
                </a:lnTo>
                <a:lnTo>
                  <a:pt x="0" y="424163"/>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8" id="8"/>
          <p:cNvSpPr/>
          <p:nvPr/>
        </p:nvSpPr>
        <p:spPr>
          <a:xfrm flipH="false" flipV="false" rot="0">
            <a:off x="-1491882" y="-859192"/>
            <a:ext cx="2892853" cy="2892853"/>
          </a:xfrm>
          <a:custGeom>
            <a:avLst/>
            <a:gdLst/>
            <a:ahLst/>
            <a:cxnLst/>
            <a:rect r="r" b="b" t="t" l="l"/>
            <a:pathLst>
              <a:path h="2892853" w="2892853">
                <a:moveTo>
                  <a:pt x="0" y="0"/>
                </a:moveTo>
                <a:lnTo>
                  <a:pt x="2892853" y="0"/>
                </a:lnTo>
                <a:lnTo>
                  <a:pt x="2892853" y="2892853"/>
                </a:lnTo>
                <a:lnTo>
                  <a:pt x="0" y="2892853"/>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9" id="9"/>
          <p:cNvSpPr/>
          <p:nvPr/>
        </p:nvSpPr>
        <p:spPr>
          <a:xfrm flipH="false" flipV="false" rot="0">
            <a:off x="17259300" y="2435855"/>
            <a:ext cx="1297547" cy="1297547"/>
          </a:xfrm>
          <a:custGeom>
            <a:avLst/>
            <a:gdLst/>
            <a:ahLst/>
            <a:cxnLst/>
            <a:rect r="r" b="b" t="t" l="l"/>
            <a:pathLst>
              <a:path h="1297547" w="1297547">
                <a:moveTo>
                  <a:pt x="0" y="0"/>
                </a:moveTo>
                <a:lnTo>
                  <a:pt x="1297547" y="0"/>
                </a:lnTo>
                <a:lnTo>
                  <a:pt x="1297547" y="1297547"/>
                </a:lnTo>
                <a:lnTo>
                  <a:pt x="0" y="1297547"/>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EBDBCC"/>
        </a:solidFill>
      </p:bgPr>
    </p:bg>
    <p:spTree>
      <p:nvGrpSpPr>
        <p:cNvPr id="1" name=""/>
        <p:cNvGrpSpPr/>
        <p:nvPr/>
      </p:nvGrpSpPr>
      <p:grpSpPr>
        <a:xfrm>
          <a:off x="0" y="0"/>
          <a:ext cx="0" cy="0"/>
          <a:chOff x="0" y="0"/>
          <a:chExt cx="0" cy="0"/>
        </a:xfrm>
      </p:grpSpPr>
      <p:sp>
        <p:nvSpPr>
          <p:cNvPr name="Freeform 2" id="2"/>
          <p:cNvSpPr/>
          <p:nvPr/>
        </p:nvSpPr>
        <p:spPr>
          <a:xfrm flipH="false" flipV="false" rot="0">
            <a:off x="3293651" y="4436651"/>
            <a:ext cx="11700697" cy="11700697"/>
          </a:xfrm>
          <a:custGeom>
            <a:avLst/>
            <a:gdLst/>
            <a:ahLst/>
            <a:cxnLst/>
            <a:rect r="r" b="b" t="t" l="l"/>
            <a:pathLst>
              <a:path h="11700697" w="11700697">
                <a:moveTo>
                  <a:pt x="0" y="0"/>
                </a:moveTo>
                <a:lnTo>
                  <a:pt x="11700698" y="0"/>
                </a:lnTo>
                <a:lnTo>
                  <a:pt x="11700698" y="11700698"/>
                </a:lnTo>
                <a:lnTo>
                  <a:pt x="0" y="11700698"/>
                </a:lnTo>
                <a:lnTo>
                  <a:pt x="0" y="0"/>
                </a:lnTo>
                <a:close/>
              </a:path>
            </a:pathLst>
          </a:custGeom>
          <a:blipFill>
            <a:blip r:embed="rId2">
              <a:alphaModFix amt="18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82389" y="5392020"/>
            <a:ext cx="2422178" cy="599489"/>
          </a:xfrm>
          <a:custGeom>
            <a:avLst/>
            <a:gdLst/>
            <a:ahLst/>
            <a:cxnLst/>
            <a:rect r="r" b="b" t="t" l="l"/>
            <a:pathLst>
              <a:path h="599489" w="2422178">
                <a:moveTo>
                  <a:pt x="0" y="0"/>
                </a:moveTo>
                <a:lnTo>
                  <a:pt x="2422178" y="0"/>
                </a:lnTo>
                <a:lnTo>
                  <a:pt x="2422178" y="599489"/>
                </a:lnTo>
                <a:lnTo>
                  <a:pt x="0" y="59948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6048211" y="5755939"/>
            <a:ext cx="2422178" cy="599489"/>
          </a:xfrm>
          <a:custGeom>
            <a:avLst/>
            <a:gdLst/>
            <a:ahLst/>
            <a:cxnLst/>
            <a:rect r="r" b="b" t="t" l="l"/>
            <a:pathLst>
              <a:path h="599489" w="2422178">
                <a:moveTo>
                  <a:pt x="0" y="0"/>
                </a:moveTo>
                <a:lnTo>
                  <a:pt x="2422178" y="0"/>
                </a:lnTo>
                <a:lnTo>
                  <a:pt x="2422178" y="599489"/>
                </a:lnTo>
                <a:lnTo>
                  <a:pt x="0" y="59948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5" id="5"/>
          <p:cNvGrpSpPr/>
          <p:nvPr/>
        </p:nvGrpSpPr>
        <p:grpSpPr>
          <a:xfrm rot="0">
            <a:off x="1028700" y="3376559"/>
            <a:ext cx="7855932" cy="2373672"/>
            <a:chOff x="0" y="0"/>
            <a:chExt cx="2069052" cy="625165"/>
          </a:xfrm>
        </p:grpSpPr>
        <p:sp>
          <p:nvSpPr>
            <p:cNvPr name="Freeform 6" id="6"/>
            <p:cNvSpPr/>
            <p:nvPr/>
          </p:nvSpPr>
          <p:spPr>
            <a:xfrm flipH="false" flipV="false" rot="0">
              <a:off x="0" y="0"/>
              <a:ext cx="2069052" cy="625165"/>
            </a:xfrm>
            <a:custGeom>
              <a:avLst/>
              <a:gdLst/>
              <a:ahLst/>
              <a:cxnLst/>
              <a:rect r="r" b="b" t="t" l="l"/>
              <a:pathLst>
                <a:path h="625165" w="2069052">
                  <a:moveTo>
                    <a:pt x="49274" y="0"/>
                  </a:moveTo>
                  <a:lnTo>
                    <a:pt x="2019778" y="0"/>
                  </a:lnTo>
                  <a:cubicBezTo>
                    <a:pt x="2046991" y="0"/>
                    <a:pt x="2069052" y="22061"/>
                    <a:pt x="2069052" y="49274"/>
                  </a:cubicBezTo>
                  <a:lnTo>
                    <a:pt x="2069052" y="575890"/>
                  </a:lnTo>
                  <a:cubicBezTo>
                    <a:pt x="2069052" y="603104"/>
                    <a:pt x="2046991" y="625165"/>
                    <a:pt x="2019778" y="625165"/>
                  </a:cubicBezTo>
                  <a:lnTo>
                    <a:pt x="49274" y="625165"/>
                  </a:lnTo>
                  <a:cubicBezTo>
                    <a:pt x="22061" y="625165"/>
                    <a:pt x="0" y="603104"/>
                    <a:pt x="0" y="575890"/>
                  </a:cubicBezTo>
                  <a:lnTo>
                    <a:pt x="0" y="49274"/>
                  </a:lnTo>
                  <a:cubicBezTo>
                    <a:pt x="0" y="22061"/>
                    <a:pt x="22061" y="0"/>
                    <a:pt x="49274" y="0"/>
                  </a:cubicBezTo>
                  <a:close/>
                </a:path>
              </a:pathLst>
            </a:custGeom>
            <a:solidFill>
              <a:srgbClr val="F6D7A5"/>
            </a:solidFill>
          </p:spPr>
        </p:sp>
        <p:sp>
          <p:nvSpPr>
            <p:cNvPr name="TextBox 7" id="7"/>
            <p:cNvSpPr txBox="true"/>
            <p:nvPr/>
          </p:nvSpPr>
          <p:spPr>
            <a:xfrm>
              <a:off x="0" y="-57150"/>
              <a:ext cx="2069052" cy="682315"/>
            </a:xfrm>
            <a:prstGeom prst="rect">
              <a:avLst/>
            </a:prstGeom>
          </p:spPr>
          <p:txBody>
            <a:bodyPr anchor="ctr" rtlCol="false" tIns="50800" lIns="50800" bIns="50800" rIns="50800"/>
            <a:lstStyle/>
            <a:p>
              <a:pPr algn="ctr">
                <a:lnSpc>
                  <a:spcPts val="2939"/>
                </a:lnSpc>
              </a:pPr>
            </a:p>
          </p:txBody>
        </p:sp>
      </p:grpSp>
      <p:grpSp>
        <p:nvGrpSpPr>
          <p:cNvPr name="Group 8" id="8"/>
          <p:cNvGrpSpPr/>
          <p:nvPr/>
        </p:nvGrpSpPr>
        <p:grpSpPr>
          <a:xfrm rot="0">
            <a:off x="9403368" y="3376559"/>
            <a:ext cx="7855932" cy="2373672"/>
            <a:chOff x="0" y="0"/>
            <a:chExt cx="2069052" cy="625165"/>
          </a:xfrm>
        </p:grpSpPr>
        <p:sp>
          <p:nvSpPr>
            <p:cNvPr name="Freeform 9" id="9"/>
            <p:cNvSpPr/>
            <p:nvPr/>
          </p:nvSpPr>
          <p:spPr>
            <a:xfrm flipH="false" flipV="false" rot="0">
              <a:off x="0" y="0"/>
              <a:ext cx="2069052" cy="625165"/>
            </a:xfrm>
            <a:custGeom>
              <a:avLst/>
              <a:gdLst/>
              <a:ahLst/>
              <a:cxnLst/>
              <a:rect r="r" b="b" t="t" l="l"/>
              <a:pathLst>
                <a:path h="625165" w="2069052">
                  <a:moveTo>
                    <a:pt x="49274" y="0"/>
                  </a:moveTo>
                  <a:lnTo>
                    <a:pt x="2019778" y="0"/>
                  </a:lnTo>
                  <a:cubicBezTo>
                    <a:pt x="2046991" y="0"/>
                    <a:pt x="2069052" y="22061"/>
                    <a:pt x="2069052" y="49274"/>
                  </a:cubicBezTo>
                  <a:lnTo>
                    <a:pt x="2069052" y="575890"/>
                  </a:lnTo>
                  <a:cubicBezTo>
                    <a:pt x="2069052" y="603104"/>
                    <a:pt x="2046991" y="625165"/>
                    <a:pt x="2019778" y="625165"/>
                  </a:cubicBezTo>
                  <a:lnTo>
                    <a:pt x="49274" y="625165"/>
                  </a:lnTo>
                  <a:cubicBezTo>
                    <a:pt x="22061" y="625165"/>
                    <a:pt x="0" y="603104"/>
                    <a:pt x="0" y="575890"/>
                  </a:cubicBezTo>
                  <a:lnTo>
                    <a:pt x="0" y="49274"/>
                  </a:lnTo>
                  <a:cubicBezTo>
                    <a:pt x="0" y="22061"/>
                    <a:pt x="22061" y="0"/>
                    <a:pt x="49274" y="0"/>
                  </a:cubicBezTo>
                  <a:close/>
                </a:path>
              </a:pathLst>
            </a:custGeom>
            <a:solidFill>
              <a:srgbClr val="F6D7A5"/>
            </a:solidFill>
          </p:spPr>
        </p:sp>
        <p:sp>
          <p:nvSpPr>
            <p:cNvPr name="TextBox 10" id="10"/>
            <p:cNvSpPr txBox="true"/>
            <p:nvPr/>
          </p:nvSpPr>
          <p:spPr>
            <a:xfrm>
              <a:off x="0" y="-57150"/>
              <a:ext cx="2069052" cy="682315"/>
            </a:xfrm>
            <a:prstGeom prst="rect">
              <a:avLst/>
            </a:prstGeom>
          </p:spPr>
          <p:txBody>
            <a:bodyPr anchor="ctr" rtlCol="false" tIns="50800" lIns="50800" bIns="50800" rIns="50800"/>
            <a:lstStyle/>
            <a:p>
              <a:pPr algn="ctr">
                <a:lnSpc>
                  <a:spcPts val="2939"/>
                </a:lnSpc>
              </a:pPr>
            </a:p>
          </p:txBody>
        </p:sp>
      </p:grpSp>
      <p:grpSp>
        <p:nvGrpSpPr>
          <p:cNvPr name="Group 11" id="11"/>
          <p:cNvGrpSpPr/>
          <p:nvPr/>
        </p:nvGrpSpPr>
        <p:grpSpPr>
          <a:xfrm rot="0">
            <a:off x="1028700" y="6035981"/>
            <a:ext cx="7855932" cy="2373672"/>
            <a:chOff x="0" y="0"/>
            <a:chExt cx="2069052" cy="625165"/>
          </a:xfrm>
        </p:grpSpPr>
        <p:sp>
          <p:nvSpPr>
            <p:cNvPr name="Freeform 12" id="12"/>
            <p:cNvSpPr/>
            <p:nvPr/>
          </p:nvSpPr>
          <p:spPr>
            <a:xfrm flipH="false" flipV="false" rot="0">
              <a:off x="0" y="0"/>
              <a:ext cx="2069052" cy="625165"/>
            </a:xfrm>
            <a:custGeom>
              <a:avLst/>
              <a:gdLst/>
              <a:ahLst/>
              <a:cxnLst/>
              <a:rect r="r" b="b" t="t" l="l"/>
              <a:pathLst>
                <a:path h="625165" w="2069052">
                  <a:moveTo>
                    <a:pt x="49274" y="0"/>
                  </a:moveTo>
                  <a:lnTo>
                    <a:pt x="2019778" y="0"/>
                  </a:lnTo>
                  <a:cubicBezTo>
                    <a:pt x="2046991" y="0"/>
                    <a:pt x="2069052" y="22061"/>
                    <a:pt x="2069052" y="49274"/>
                  </a:cubicBezTo>
                  <a:lnTo>
                    <a:pt x="2069052" y="575890"/>
                  </a:lnTo>
                  <a:cubicBezTo>
                    <a:pt x="2069052" y="603104"/>
                    <a:pt x="2046991" y="625165"/>
                    <a:pt x="2019778" y="625165"/>
                  </a:cubicBezTo>
                  <a:lnTo>
                    <a:pt x="49274" y="625165"/>
                  </a:lnTo>
                  <a:cubicBezTo>
                    <a:pt x="22061" y="625165"/>
                    <a:pt x="0" y="603104"/>
                    <a:pt x="0" y="575890"/>
                  </a:cubicBezTo>
                  <a:lnTo>
                    <a:pt x="0" y="49274"/>
                  </a:lnTo>
                  <a:cubicBezTo>
                    <a:pt x="0" y="22061"/>
                    <a:pt x="22061" y="0"/>
                    <a:pt x="49274" y="0"/>
                  </a:cubicBezTo>
                  <a:close/>
                </a:path>
              </a:pathLst>
            </a:custGeom>
            <a:solidFill>
              <a:srgbClr val="F6D7A5"/>
            </a:solidFill>
          </p:spPr>
        </p:sp>
        <p:sp>
          <p:nvSpPr>
            <p:cNvPr name="TextBox 13" id="13"/>
            <p:cNvSpPr txBox="true"/>
            <p:nvPr/>
          </p:nvSpPr>
          <p:spPr>
            <a:xfrm>
              <a:off x="0" y="-57150"/>
              <a:ext cx="2069052" cy="682315"/>
            </a:xfrm>
            <a:prstGeom prst="rect">
              <a:avLst/>
            </a:prstGeom>
          </p:spPr>
          <p:txBody>
            <a:bodyPr anchor="ctr" rtlCol="false" tIns="50800" lIns="50800" bIns="50800" rIns="50800"/>
            <a:lstStyle/>
            <a:p>
              <a:pPr algn="ctr">
                <a:lnSpc>
                  <a:spcPts val="2939"/>
                </a:lnSpc>
              </a:pPr>
            </a:p>
          </p:txBody>
        </p:sp>
      </p:grpSp>
      <p:grpSp>
        <p:nvGrpSpPr>
          <p:cNvPr name="Group 14" id="14"/>
          <p:cNvGrpSpPr/>
          <p:nvPr/>
        </p:nvGrpSpPr>
        <p:grpSpPr>
          <a:xfrm rot="0">
            <a:off x="9403368" y="6035981"/>
            <a:ext cx="7855932" cy="2373672"/>
            <a:chOff x="0" y="0"/>
            <a:chExt cx="2069052" cy="625165"/>
          </a:xfrm>
        </p:grpSpPr>
        <p:sp>
          <p:nvSpPr>
            <p:cNvPr name="Freeform 15" id="15"/>
            <p:cNvSpPr/>
            <p:nvPr/>
          </p:nvSpPr>
          <p:spPr>
            <a:xfrm flipH="false" flipV="false" rot="0">
              <a:off x="0" y="0"/>
              <a:ext cx="2069052" cy="625165"/>
            </a:xfrm>
            <a:custGeom>
              <a:avLst/>
              <a:gdLst/>
              <a:ahLst/>
              <a:cxnLst/>
              <a:rect r="r" b="b" t="t" l="l"/>
              <a:pathLst>
                <a:path h="625165" w="2069052">
                  <a:moveTo>
                    <a:pt x="49274" y="0"/>
                  </a:moveTo>
                  <a:lnTo>
                    <a:pt x="2019778" y="0"/>
                  </a:lnTo>
                  <a:cubicBezTo>
                    <a:pt x="2046991" y="0"/>
                    <a:pt x="2069052" y="22061"/>
                    <a:pt x="2069052" y="49274"/>
                  </a:cubicBezTo>
                  <a:lnTo>
                    <a:pt x="2069052" y="575890"/>
                  </a:lnTo>
                  <a:cubicBezTo>
                    <a:pt x="2069052" y="603104"/>
                    <a:pt x="2046991" y="625165"/>
                    <a:pt x="2019778" y="625165"/>
                  </a:cubicBezTo>
                  <a:lnTo>
                    <a:pt x="49274" y="625165"/>
                  </a:lnTo>
                  <a:cubicBezTo>
                    <a:pt x="22061" y="625165"/>
                    <a:pt x="0" y="603104"/>
                    <a:pt x="0" y="575890"/>
                  </a:cubicBezTo>
                  <a:lnTo>
                    <a:pt x="0" y="49274"/>
                  </a:lnTo>
                  <a:cubicBezTo>
                    <a:pt x="0" y="22061"/>
                    <a:pt x="22061" y="0"/>
                    <a:pt x="49274" y="0"/>
                  </a:cubicBezTo>
                  <a:close/>
                </a:path>
              </a:pathLst>
            </a:custGeom>
            <a:solidFill>
              <a:srgbClr val="F6D7A5"/>
            </a:solidFill>
          </p:spPr>
        </p:sp>
        <p:sp>
          <p:nvSpPr>
            <p:cNvPr name="TextBox 16" id="16"/>
            <p:cNvSpPr txBox="true"/>
            <p:nvPr/>
          </p:nvSpPr>
          <p:spPr>
            <a:xfrm>
              <a:off x="0" y="-57150"/>
              <a:ext cx="2069052" cy="682315"/>
            </a:xfrm>
            <a:prstGeom prst="rect">
              <a:avLst/>
            </a:prstGeom>
          </p:spPr>
          <p:txBody>
            <a:bodyPr anchor="ctr" rtlCol="false" tIns="50800" lIns="50800" bIns="50800" rIns="50800"/>
            <a:lstStyle/>
            <a:p>
              <a:pPr algn="ctr">
                <a:lnSpc>
                  <a:spcPts val="2939"/>
                </a:lnSpc>
              </a:pPr>
            </a:p>
          </p:txBody>
        </p:sp>
      </p:grpSp>
      <p:sp>
        <p:nvSpPr>
          <p:cNvPr name="Freeform 17" id="17"/>
          <p:cNvSpPr/>
          <p:nvPr/>
        </p:nvSpPr>
        <p:spPr>
          <a:xfrm flipH="false" flipV="false" rot="0">
            <a:off x="583929" y="7964883"/>
            <a:ext cx="889541" cy="889541"/>
          </a:xfrm>
          <a:custGeom>
            <a:avLst/>
            <a:gdLst/>
            <a:ahLst/>
            <a:cxnLst/>
            <a:rect r="r" b="b" t="t" l="l"/>
            <a:pathLst>
              <a:path h="889541" w="889541">
                <a:moveTo>
                  <a:pt x="0" y="0"/>
                </a:moveTo>
                <a:lnTo>
                  <a:pt x="889542" y="0"/>
                </a:lnTo>
                <a:lnTo>
                  <a:pt x="889542" y="889541"/>
                </a:lnTo>
                <a:lnTo>
                  <a:pt x="0" y="88954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8" id="18"/>
          <p:cNvSpPr/>
          <p:nvPr/>
        </p:nvSpPr>
        <p:spPr>
          <a:xfrm flipH="false" flipV="false" rot="0">
            <a:off x="16693392" y="2931788"/>
            <a:ext cx="889541" cy="889541"/>
          </a:xfrm>
          <a:custGeom>
            <a:avLst/>
            <a:gdLst/>
            <a:ahLst/>
            <a:cxnLst/>
            <a:rect r="r" b="b" t="t" l="l"/>
            <a:pathLst>
              <a:path h="889541" w="889541">
                <a:moveTo>
                  <a:pt x="0" y="0"/>
                </a:moveTo>
                <a:lnTo>
                  <a:pt x="889542" y="0"/>
                </a:lnTo>
                <a:lnTo>
                  <a:pt x="889542" y="889542"/>
                </a:lnTo>
                <a:lnTo>
                  <a:pt x="0" y="88954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19" id="19"/>
          <p:cNvGrpSpPr/>
          <p:nvPr/>
        </p:nvGrpSpPr>
        <p:grpSpPr>
          <a:xfrm rot="0">
            <a:off x="6541561" y="3813413"/>
            <a:ext cx="2343071" cy="1936818"/>
            <a:chOff x="0" y="0"/>
            <a:chExt cx="617105" cy="510108"/>
          </a:xfrm>
        </p:grpSpPr>
        <p:sp>
          <p:nvSpPr>
            <p:cNvPr name="Freeform 20" id="20"/>
            <p:cNvSpPr/>
            <p:nvPr/>
          </p:nvSpPr>
          <p:spPr>
            <a:xfrm flipH="false" flipV="false" rot="0">
              <a:off x="0" y="0"/>
              <a:ext cx="617105" cy="510108"/>
            </a:xfrm>
            <a:custGeom>
              <a:avLst/>
              <a:gdLst/>
              <a:ahLst/>
              <a:cxnLst/>
              <a:rect r="r" b="b" t="t" l="l"/>
              <a:pathLst>
                <a:path h="510108" w="617105">
                  <a:moveTo>
                    <a:pt x="165209" y="0"/>
                  </a:moveTo>
                  <a:lnTo>
                    <a:pt x="451896" y="0"/>
                  </a:lnTo>
                  <a:cubicBezTo>
                    <a:pt x="495712" y="0"/>
                    <a:pt x="537734" y="17406"/>
                    <a:pt x="568717" y="48389"/>
                  </a:cubicBezTo>
                  <a:cubicBezTo>
                    <a:pt x="599699" y="79371"/>
                    <a:pt x="617105" y="121393"/>
                    <a:pt x="617105" y="165209"/>
                  </a:cubicBezTo>
                  <a:lnTo>
                    <a:pt x="617105" y="344900"/>
                  </a:lnTo>
                  <a:cubicBezTo>
                    <a:pt x="617105" y="388716"/>
                    <a:pt x="599699" y="430737"/>
                    <a:pt x="568717" y="461720"/>
                  </a:cubicBezTo>
                  <a:cubicBezTo>
                    <a:pt x="537734" y="492702"/>
                    <a:pt x="495712" y="510108"/>
                    <a:pt x="451896" y="510108"/>
                  </a:cubicBezTo>
                  <a:lnTo>
                    <a:pt x="165209" y="510108"/>
                  </a:lnTo>
                  <a:cubicBezTo>
                    <a:pt x="121393" y="510108"/>
                    <a:pt x="79371" y="492702"/>
                    <a:pt x="48389" y="461720"/>
                  </a:cubicBezTo>
                  <a:cubicBezTo>
                    <a:pt x="17406" y="430737"/>
                    <a:pt x="0" y="388716"/>
                    <a:pt x="0" y="344900"/>
                  </a:cubicBezTo>
                  <a:lnTo>
                    <a:pt x="0" y="165209"/>
                  </a:lnTo>
                  <a:cubicBezTo>
                    <a:pt x="0" y="121393"/>
                    <a:pt x="17406" y="79371"/>
                    <a:pt x="48389" y="48389"/>
                  </a:cubicBezTo>
                  <a:cubicBezTo>
                    <a:pt x="79371" y="17406"/>
                    <a:pt x="121393" y="0"/>
                    <a:pt x="165209" y="0"/>
                  </a:cubicBezTo>
                  <a:close/>
                </a:path>
              </a:pathLst>
            </a:custGeom>
            <a:solidFill>
              <a:srgbClr val="296EB5"/>
            </a:solidFill>
          </p:spPr>
        </p:sp>
        <p:sp>
          <p:nvSpPr>
            <p:cNvPr name="TextBox 21" id="21"/>
            <p:cNvSpPr txBox="true"/>
            <p:nvPr/>
          </p:nvSpPr>
          <p:spPr>
            <a:xfrm>
              <a:off x="0" y="-57150"/>
              <a:ext cx="617105" cy="567258"/>
            </a:xfrm>
            <a:prstGeom prst="rect">
              <a:avLst/>
            </a:prstGeom>
          </p:spPr>
          <p:txBody>
            <a:bodyPr anchor="ctr" rtlCol="false" tIns="50800" lIns="50800" bIns="50800" rIns="50800"/>
            <a:lstStyle/>
            <a:p>
              <a:pPr algn="ctr">
                <a:lnSpc>
                  <a:spcPts val="2939"/>
                </a:lnSpc>
              </a:pPr>
            </a:p>
          </p:txBody>
        </p:sp>
      </p:grpSp>
      <p:grpSp>
        <p:nvGrpSpPr>
          <p:cNvPr name="Group 22" id="22"/>
          <p:cNvGrpSpPr/>
          <p:nvPr/>
        </p:nvGrpSpPr>
        <p:grpSpPr>
          <a:xfrm rot="0">
            <a:off x="6541561" y="6035981"/>
            <a:ext cx="2343071" cy="1928902"/>
            <a:chOff x="0" y="0"/>
            <a:chExt cx="617105" cy="508023"/>
          </a:xfrm>
        </p:grpSpPr>
        <p:sp>
          <p:nvSpPr>
            <p:cNvPr name="Freeform 23" id="23"/>
            <p:cNvSpPr/>
            <p:nvPr/>
          </p:nvSpPr>
          <p:spPr>
            <a:xfrm flipH="false" flipV="false" rot="0">
              <a:off x="0" y="0"/>
              <a:ext cx="617105" cy="508023"/>
            </a:xfrm>
            <a:custGeom>
              <a:avLst/>
              <a:gdLst/>
              <a:ahLst/>
              <a:cxnLst/>
              <a:rect r="r" b="b" t="t" l="l"/>
              <a:pathLst>
                <a:path h="508023" w="617105">
                  <a:moveTo>
                    <a:pt x="165209" y="0"/>
                  </a:moveTo>
                  <a:lnTo>
                    <a:pt x="451896" y="0"/>
                  </a:lnTo>
                  <a:cubicBezTo>
                    <a:pt x="495712" y="0"/>
                    <a:pt x="537734" y="17406"/>
                    <a:pt x="568717" y="48389"/>
                  </a:cubicBezTo>
                  <a:cubicBezTo>
                    <a:pt x="599699" y="79371"/>
                    <a:pt x="617105" y="121393"/>
                    <a:pt x="617105" y="165209"/>
                  </a:cubicBezTo>
                  <a:lnTo>
                    <a:pt x="617105" y="342815"/>
                  </a:lnTo>
                  <a:cubicBezTo>
                    <a:pt x="617105" y="386631"/>
                    <a:pt x="599699" y="428652"/>
                    <a:pt x="568717" y="459635"/>
                  </a:cubicBezTo>
                  <a:cubicBezTo>
                    <a:pt x="537734" y="490618"/>
                    <a:pt x="495712" y="508023"/>
                    <a:pt x="451896" y="508023"/>
                  </a:cubicBezTo>
                  <a:lnTo>
                    <a:pt x="165209" y="508023"/>
                  </a:lnTo>
                  <a:cubicBezTo>
                    <a:pt x="121393" y="508023"/>
                    <a:pt x="79371" y="490618"/>
                    <a:pt x="48389" y="459635"/>
                  </a:cubicBezTo>
                  <a:cubicBezTo>
                    <a:pt x="17406" y="428652"/>
                    <a:pt x="0" y="386631"/>
                    <a:pt x="0" y="342815"/>
                  </a:cubicBezTo>
                  <a:lnTo>
                    <a:pt x="0" y="165209"/>
                  </a:lnTo>
                  <a:cubicBezTo>
                    <a:pt x="0" y="121393"/>
                    <a:pt x="17406" y="79371"/>
                    <a:pt x="48389" y="48389"/>
                  </a:cubicBezTo>
                  <a:cubicBezTo>
                    <a:pt x="79371" y="17406"/>
                    <a:pt x="121393" y="0"/>
                    <a:pt x="165209" y="0"/>
                  </a:cubicBezTo>
                  <a:close/>
                </a:path>
              </a:pathLst>
            </a:custGeom>
            <a:solidFill>
              <a:srgbClr val="296EB5"/>
            </a:solidFill>
          </p:spPr>
        </p:sp>
        <p:sp>
          <p:nvSpPr>
            <p:cNvPr name="TextBox 24" id="24"/>
            <p:cNvSpPr txBox="true"/>
            <p:nvPr/>
          </p:nvSpPr>
          <p:spPr>
            <a:xfrm>
              <a:off x="0" y="-57150"/>
              <a:ext cx="617105" cy="565173"/>
            </a:xfrm>
            <a:prstGeom prst="rect">
              <a:avLst/>
            </a:prstGeom>
          </p:spPr>
          <p:txBody>
            <a:bodyPr anchor="ctr" rtlCol="false" tIns="50800" lIns="50800" bIns="50800" rIns="50800"/>
            <a:lstStyle/>
            <a:p>
              <a:pPr algn="ctr">
                <a:lnSpc>
                  <a:spcPts val="2939"/>
                </a:lnSpc>
              </a:pPr>
            </a:p>
          </p:txBody>
        </p:sp>
      </p:grpSp>
      <p:grpSp>
        <p:nvGrpSpPr>
          <p:cNvPr name="Group 25" id="25"/>
          <p:cNvGrpSpPr/>
          <p:nvPr/>
        </p:nvGrpSpPr>
        <p:grpSpPr>
          <a:xfrm rot="0">
            <a:off x="9403368" y="3821330"/>
            <a:ext cx="2237156" cy="1928902"/>
            <a:chOff x="0" y="0"/>
            <a:chExt cx="589210" cy="508023"/>
          </a:xfrm>
        </p:grpSpPr>
        <p:sp>
          <p:nvSpPr>
            <p:cNvPr name="Freeform 26" id="26"/>
            <p:cNvSpPr/>
            <p:nvPr/>
          </p:nvSpPr>
          <p:spPr>
            <a:xfrm flipH="false" flipV="false" rot="0">
              <a:off x="0" y="0"/>
              <a:ext cx="589210" cy="508023"/>
            </a:xfrm>
            <a:custGeom>
              <a:avLst/>
              <a:gdLst/>
              <a:ahLst/>
              <a:cxnLst/>
              <a:rect r="r" b="b" t="t" l="l"/>
              <a:pathLst>
                <a:path h="508023" w="589210">
                  <a:moveTo>
                    <a:pt x="173030" y="0"/>
                  </a:moveTo>
                  <a:lnTo>
                    <a:pt x="416179" y="0"/>
                  </a:lnTo>
                  <a:cubicBezTo>
                    <a:pt x="511741" y="0"/>
                    <a:pt x="589210" y="77468"/>
                    <a:pt x="589210" y="173030"/>
                  </a:cubicBezTo>
                  <a:lnTo>
                    <a:pt x="589210" y="334993"/>
                  </a:lnTo>
                  <a:cubicBezTo>
                    <a:pt x="589210" y="380884"/>
                    <a:pt x="570980" y="424895"/>
                    <a:pt x="538530" y="457344"/>
                  </a:cubicBezTo>
                  <a:cubicBezTo>
                    <a:pt x="506081" y="489794"/>
                    <a:pt x="462070" y="508023"/>
                    <a:pt x="416179" y="508023"/>
                  </a:cubicBezTo>
                  <a:lnTo>
                    <a:pt x="173030" y="508023"/>
                  </a:lnTo>
                  <a:cubicBezTo>
                    <a:pt x="127140" y="508023"/>
                    <a:pt x="83129" y="489794"/>
                    <a:pt x="50679" y="457344"/>
                  </a:cubicBezTo>
                  <a:cubicBezTo>
                    <a:pt x="18230" y="424895"/>
                    <a:pt x="0" y="380884"/>
                    <a:pt x="0" y="334993"/>
                  </a:cubicBezTo>
                  <a:lnTo>
                    <a:pt x="0" y="173030"/>
                  </a:lnTo>
                  <a:cubicBezTo>
                    <a:pt x="0" y="127140"/>
                    <a:pt x="18230" y="83129"/>
                    <a:pt x="50679" y="50679"/>
                  </a:cubicBezTo>
                  <a:cubicBezTo>
                    <a:pt x="83129" y="18230"/>
                    <a:pt x="127140" y="0"/>
                    <a:pt x="173030" y="0"/>
                  </a:cubicBezTo>
                  <a:close/>
                </a:path>
              </a:pathLst>
            </a:custGeom>
            <a:solidFill>
              <a:srgbClr val="296EB5"/>
            </a:solidFill>
          </p:spPr>
        </p:sp>
        <p:sp>
          <p:nvSpPr>
            <p:cNvPr name="TextBox 27" id="27"/>
            <p:cNvSpPr txBox="true"/>
            <p:nvPr/>
          </p:nvSpPr>
          <p:spPr>
            <a:xfrm>
              <a:off x="0" y="-57150"/>
              <a:ext cx="589210" cy="565173"/>
            </a:xfrm>
            <a:prstGeom prst="rect">
              <a:avLst/>
            </a:prstGeom>
          </p:spPr>
          <p:txBody>
            <a:bodyPr anchor="ctr" rtlCol="false" tIns="50800" lIns="50800" bIns="50800" rIns="50800"/>
            <a:lstStyle/>
            <a:p>
              <a:pPr algn="ctr">
                <a:lnSpc>
                  <a:spcPts val="2939"/>
                </a:lnSpc>
              </a:pPr>
            </a:p>
          </p:txBody>
        </p:sp>
      </p:grpSp>
      <p:grpSp>
        <p:nvGrpSpPr>
          <p:cNvPr name="Group 28" id="28"/>
          <p:cNvGrpSpPr/>
          <p:nvPr/>
        </p:nvGrpSpPr>
        <p:grpSpPr>
          <a:xfrm rot="0">
            <a:off x="9403368" y="6035981"/>
            <a:ext cx="2237156" cy="1910407"/>
            <a:chOff x="0" y="0"/>
            <a:chExt cx="589210" cy="503153"/>
          </a:xfrm>
        </p:grpSpPr>
        <p:sp>
          <p:nvSpPr>
            <p:cNvPr name="Freeform 29" id="29"/>
            <p:cNvSpPr/>
            <p:nvPr/>
          </p:nvSpPr>
          <p:spPr>
            <a:xfrm flipH="false" flipV="false" rot="0">
              <a:off x="0" y="0"/>
              <a:ext cx="589210" cy="503153"/>
            </a:xfrm>
            <a:custGeom>
              <a:avLst/>
              <a:gdLst/>
              <a:ahLst/>
              <a:cxnLst/>
              <a:rect r="r" b="b" t="t" l="l"/>
              <a:pathLst>
                <a:path h="503153" w="589210">
                  <a:moveTo>
                    <a:pt x="173030" y="0"/>
                  </a:moveTo>
                  <a:lnTo>
                    <a:pt x="416179" y="0"/>
                  </a:lnTo>
                  <a:cubicBezTo>
                    <a:pt x="511741" y="0"/>
                    <a:pt x="589210" y="77468"/>
                    <a:pt x="589210" y="173030"/>
                  </a:cubicBezTo>
                  <a:lnTo>
                    <a:pt x="589210" y="330122"/>
                  </a:lnTo>
                  <a:cubicBezTo>
                    <a:pt x="589210" y="376013"/>
                    <a:pt x="570980" y="420024"/>
                    <a:pt x="538530" y="452473"/>
                  </a:cubicBezTo>
                  <a:cubicBezTo>
                    <a:pt x="506081" y="484923"/>
                    <a:pt x="462070" y="503153"/>
                    <a:pt x="416179" y="503153"/>
                  </a:cubicBezTo>
                  <a:lnTo>
                    <a:pt x="173030" y="503153"/>
                  </a:lnTo>
                  <a:cubicBezTo>
                    <a:pt x="127140" y="503153"/>
                    <a:pt x="83129" y="484923"/>
                    <a:pt x="50679" y="452473"/>
                  </a:cubicBezTo>
                  <a:cubicBezTo>
                    <a:pt x="18230" y="420024"/>
                    <a:pt x="0" y="376013"/>
                    <a:pt x="0" y="330122"/>
                  </a:cubicBezTo>
                  <a:lnTo>
                    <a:pt x="0" y="173030"/>
                  </a:lnTo>
                  <a:cubicBezTo>
                    <a:pt x="0" y="127140"/>
                    <a:pt x="18230" y="83129"/>
                    <a:pt x="50679" y="50679"/>
                  </a:cubicBezTo>
                  <a:cubicBezTo>
                    <a:pt x="83129" y="18230"/>
                    <a:pt x="127140" y="0"/>
                    <a:pt x="173030" y="0"/>
                  </a:cubicBezTo>
                  <a:close/>
                </a:path>
              </a:pathLst>
            </a:custGeom>
            <a:solidFill>
              <a:srgbClr val="296EB5"/>
            </a:solidFill>
          </p:spPr>
        </p:sp>
        <p:sp>
          <p:nvSpPr>
            <p:cNvPr name="TextBox 30" id="30"/>
            <p:cNvSpPr txBox="true"/>
            <p:nvPr/>
          </p:nvSpPr>
          <p:spPr>
            <a:xfrm>
              <a:off x="0" y="-57150"/>
              <a:ext cx="589210" cy="560303"/>
            </a:xfrm>
            <a:prstGeom prst="rect">
              <a:avLst/>
            </a:prstGeom>
          </p:spPr>
          <p:txBody>
            <a:bodyPr anchor="ctr" rtlCol="false" tIns="50800" lIns="50800" bIns="50800" rIns="50800"/>
            <a:lstStyle/>
            <a:p>
              <a:pPr algn="ctr">
                <a:lnSpc>
                  <a:spcPts val="2939"/>
                </a:lnSpc>
              </a:pPr>
            </a:p>
          </p:txBody>
        </p:sp>
      </p:grpSp>
      <p:sp>
        <p:nvSpPr>
          <p:cNvPr name="TextBox 31" id="31"/>
          <p:cNvSpPr txBox="true"/>
          <p:nvPr/>
        </p:nvSpPr>
        <p:spPr>
          <a:xfrm rot="0">
            <a:off x="6739488" y="3773705"/>
            <a:ext cx="2404512" cy="2111375"/>
          </a:xfrm>
          <a:prstGeom prst="rect">
            <a:avLst/>
          </a:prstGeom>
        </p:spPr>
        <p:txBody>
          <a:bodyPr anchor="t" rtlCol="false" tIns="0" lIns="0" bIns="0" rIns="0">
            <a:spAutoFit/>
          </a:bodyPr>
          <a:lstStyle/>
          <a:p>
            <a:pPr algn="l">
              <a:lnSpc>
                <a:spcPts val="2800"/>
              </a:lnSpc>
            </a:pPr>
            <a:r>
              <a:rPr lang="en-US" sz="2000" spc="200" b="true">
                <a:solidFill>
                  <a:srgbClr val="FFFFFF"/>
                </a:solidFill>
                <a:latin typeface="Quicksand Bold"/>
                <a:ea typeface="Quicksand Bold"/>
                <a:cs typeface="Quicksand Bold"/>
                <a:sym typeface="Quicksand Bold"/>
              </a:rPr>
              <a:t>Establish a Sentiment Baseline for Competitive Benchmarking</a:t>
            </a:r>
          </a:p>
          <a:p>
            <a:pPr algn="l" marL="0" indent="0" lvl="0">
              <a:lnSpc>
                <a:spcPts val="2800"/>
              </a:lnSpc>
            </a:pPr>
          </a:p>
        </p:txBody>
      </p:sp>
      <p:sp>
        <p:nvSpPr>
          <p:cNvPr name="TextBox 32" id="32"/>
          <p:cNvSpPr txBox="true"/>
          <p:nvPr/>
        </p:nvSpPr>
        <p:spPr>
          <a:xfrm rot="0">
            <a:off x="6739488" y="6139528"/>
            <a:ext cx="2145144" cy="1806860"/>
          </a:xfrm>
          <a:prstGeom prst="rect">
            <a:avLst/>
          </a:prstGeom>
        </p:spPr>
        <p:txBody>
          <a:bodyPr anchor="t" rtlCol="false" tIns="0" lIns="0" bIns="0" rIns="0">
            <a:spAutoFit/>
          </a:bodyPr>
          <a:lstStyle/>
          <a:p>
            <a:pPr algn="l">
              <a:lnSpc>
                <a:spcPts val="2539"/>
              </a:lnSpc>
            </a:pPr>
            <a:r>
              <a:rPr lang="en-US" sz="1813" spc="181" b="true">
                <a:solidFill>
                  <a:srgbClr val="FFFFFF"/>
                </a:solidFill>
                <a:latin typeface="Quicksand Bold"/>
                <a:ea typeface="Quicksand Bold"/>
                <a:cs typeface="Quicksand Bold"/>
                <a:sym typeface="Quicksand Bold"/>
              </a:rPr>
              <a:t>Use Sentiment Trends to Inform Product Launch Strategy</a:t>
            </a:r>
          </a:p>
          <a:p>
            <a:pPr algn="l" marL="0" indent="0" lvl="0">
              <a:lnSpc>
                <a:spcPts val="1979"/>
              </a:lnSpc>
            </a:pPr>
          </a:p>
        </p:txBody>
      </p:sp>
      <p:sp>
        <p:nvSpPr>
          <p:cNvPr name="TextBox 33" id="33"/>
          <p:cNvSpPr txBox="true"/>
          <p:nvPr/>
        </p:nvSpPr>
        <p:spPr>
          <a:xfrm rot="0">
            <a:off x="9485097" y="3936518"/>
            <a:ext cx="2567969" cy="1795273"/>
          </a:xfrm>
          <a:prstGeom prst="rect">
            <a:avLst/>
          </a:prstGeom>
        </p:spPr>
        <p:txBody>
          <a:bodyPr anchor="t" rtlCol="false" tIns="0" lIns="0" bIns="0" rIns="0">
            <a:spAutoFit/>
          </a:bodyPr>
          <a:lstStyle/>
          <a:p>
            <a:pPr algn="l">
              <a:lnSpc>
                <a:spcPts val="2897"/>
              </a:lnSpc>
            </a:pPr>
            <a:r>
              <a:rPr lang="en-US" sz="2069" spc="206" b="true">
                <a:solidFill>
                  <a:srgbClr val="FFFFFF"/>
                </a:solidFill>
                <a:latin typeface="Quicksand Bold"/>
                <a:ea typeface="Quicksand Bold"/>
                <a:cs typeface="Quicksand Bold"/>
                <a:sym typeface="Quicksand Bold"/>
              </a:rPr>
              <a:t>Invest in Continuous Social Media Monitoring</a:t>
            </a:r>
          </a:p>
          <a:p>
            <a:pPr algn="l" marL="0" indent="0" lvl="0">
              <a:lnSpc>
                <a:spcPts val="2897"/>
              </a:lnSpc>
            </a:pPr>
          </a:p>
        </p:txBody>
      </p:sp>
      <p:sp>
        <p:nvSpPr>
          <p:cNvPr name="TextBox 34" id="34"/>
          <p:cNvSpPr txBox="true"/>
          <p:nvPr/>
        </p:nvSpPr>
        <p:spPr>
          <a:xfrm rot="0">
            <a:off x="9485097" y="6120478"/>
            <a:ext cx="2486241" cy="1456614"/>
          </a:xfrm>
          <a:prstGeom prst="rect">
            <a:avLst/>
          </a:prstGeom>
        </p:spPr>
        <p:txBody>
          <a:bodyPr anchor="t" rtlCol="false" tIns="0" lIns="0" bIns="0" rIns="0">
            <a:spAutoFit/>
          </a:bodyPr>
          <a:lstStyle/>
          <a:p>
            <a:pPr algn="l">
              <a:lnSpc>
                <a:spcPts val="2800"/>
              </a:lnSpc>
            </a:pPr>
            <a:r>
              <a:rPr lang="en-US" sz="2000" spc="200" b="true">
                <a:solidFill>
                  <a:srgbClr val="FFFFFF"/>
                </a:solidFill>
                <a:latin typeface="Quicksand Bold"/>
                <a:ea typeface="Quicksand Bold"/>
                <a:cs typeface="Quicksand Bold"/>
                <a:sym typeface="Quicksand Bold"/>
              </a:rPr>
              <a:t>Develop Brand-Specific Sentiment Dashboards</a:t>
            </a:r>
          </a:p>
          <a:p>
            <a:pPr algn="just" marL="0" indent="0" lvl="0">
              <a:lnSpc>
                <a:spcPts val="140"/>
              </a:lnSpc>
            </a:pPr>
          </a:p>
        </p:txBody>
      </p:sp>
      <p:sp>
        <p:nvSpPr>
          <p:cNvPr name="Freeform 35" id="35"/>
          <p:cNvSpPr/>
          <p:nvPr/>
        </p:nvSpPr>
        <p:spPr>
          <a:xfrm flipH="false" flipV="false" rot="0">
            <a:off x="8539473" y="5306131"/>
            <a:ext cx="1209054" cy="1209054"/>
          </a:xfrm>
          <a:custGeom>
            <a:avLst/>
            <a:gdLst/>
            <a:ahLst/>
            <a:cxnLst/>
            <a:rect r="r" b="b" t="t" l="l"/>
            <a:pathLst>
              <a:path h="1209054" w="1209054">
                <a:moveTo>
                  <a:pt x="0" y="0"/>
                </a:moveTo>
                <a:lnTo>
                  <a:pt x="1209054" y="0"/>
                </a:lnTo>
                <a:lnTo>
                  <a:pt x="1209054" y="1209053"/>
                </a:lnTo>
                <a:lnTo>
                  <a:pt x="0" y="1209053"/>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36" id="36"/>
          <p:cNvSpPr txBox="true"/>
          <p:nvPr/>
        </p:nvSpPr>
        <p:spPr>
          <a:xfrm rot="0">
            <a:off x="1028700" y="3534751"/>
            <a:ext cx="5287963" cy="1931035"/>
          </a:xfrm>
          <a:prstGeom prst="rect">
            <a:avLst/>
          </a:prstGeom>
        </p:spPr>
        <p:txBody>
          <a:bodyPr anchor="t" rtlCol="false" tIns="0" lIns="0" bIns="0" rIns="0">
            <a:spAutoFit/>
          </a:bodyPr>
          <a:lstStyle/>
          <a:p>
            <a:pPr algn="l">
              <a:lnSpc>
                <a:spcPts val="2210"/>
              </a:lnSpc>
            </a:pPr>
            <a:r>
              <a:rPr lang="en-US" sz="1700" spc="85">
                <a:solidFill>
                  <a:srgbClr val="000000"/>
                </a:solidFill>
                <a:latin typeface="Quicksand"/>
                <a:ea typeface="Quicksand"/>
                <a:cs typeface="Quicksand"/>
                <a:sym typeface="Quicksand"/>
              </a:rPr>
              <a:t>Since this model covers both Google and Apple, it naturally positions itself as a competitive intelligence tool. Stakeholders should establish sentiment baselines for each brand and track them over time, particularly around shared competitive moments such as annual flagship launches, price changes, or OS updates. </a:t>
            </a:r>
          </a:p>
        </p:txBody>
      </p:sp>
      <p:sp>
        <p:nvSpPr>
          <p:cNvPr name="TextBox 37" id="37"/>
          <p:cNvSpPr txBox="true"/>
          <p:nvPr/>
        </p:nvSpPr>
        <p:spPr>
          <a:xfrm rot="0">
            <a:off x="1028700" y="6301376"/>
            <a:ext cx="5287963" cy="1654810"/>
          </a:xfrm>
          <a:prstGeom prst="rect">
            <a:avLst/>
          </a:prstGeom>
        </p:spPr>
        <p:txBody>
          <a:bodyPr anchor="t" rtlCol="false" tIns="0" lIns="0" bIns="0" rIns="0">
            <a:spAutoFit/>
          </a:bodyPr>
          <a:lstStyle/>
          <a:p>
            <a:pPr algn="l">
              <a:lnSpc>
                <a:spcPts val="2210"/>
              </a:lnSpc>
            </a:pPr>
            <a:r>
              <a:rPr lang="en-US" sz="1700" spc="85">
                <a:solidFill>
                  <a:srgbClr val="000000"/>
                </a:solidFill>
                <a:latin typeface="Quicksand"/>
                <a:ea typeface="Quicksand"/>
                <a:cs typeface="Quicksand"/>
                <a:sym typeface="Quicksand"/>
              </a:rPr>
              <a:t>Twitter sentiment data captured around product launches provides a real-time signal of market reception that traditional market research cannot match in speed. Google and Apple should integrate sentiment trend analysis into their post-launch review process,</a:t>
            </a:r>
          </a:p>
        </p:txBody>
      </p:sp>
      <p:sp>
        <p:nvSpPr>
          <p:cNvPr name="TextBox 38" id="38"/>
          <p:cNvSpPr txBox="true"/>
          <p:nvPr/>
        </p:nvSpPr>
        <p:spPr>
          <a:xfrm rot="0">
            <a:off x="11869124" y="3803982"/>
            <a:ext cx="5032861" cy="1509395"/>
          </a:xfrm>
          <a:prstGeom prst="rect">
            <a:avLst/>
          </a:prstGeom>
        </p:spPr>
        <p:txBody>
          <a:bodyPr anchor="t" rtlCol="false" tIns="0" lIns="0" bIns="0" rIns="0">
            <a:spAutoFit/>
          </a:bodyPr>
          <a:lstStyle/>
          <a:p>
            <a:pPr algn="l">
              <a:lnSpc>
                <a:spcPts val="2470"/>
              </a:lnSpc>
            </a:pPr>
            <a:r>
              <a:rPr lang="en-US" sz="1900" spc="95">
                <a:solidFill>
                  <a:srgbClr val="000000"/>
                </a:solidFill>
                <a:latin typeface="Quicksand"/>
                <a:ea typeface="Quicksand"/>
                <a:cs typeface="Quicksand"/>
                <a:sym typeface="Quicksand"/>
              </a:rPr>
              <a:t> Both brands should invest in a real-time monitoring pipeline that continuously tracks sentiment across product lines, enabling faster response to emerging negative trends before they escalate. </a:t>
            </a:r>
          </a:p>
        </p:txBody>
      </p:sp>
      <p:sp>
        <p:nvSpPr>
          <p:cNvPr name="TextBox 39" id="39"/>
          <p:cNvSpPr txBox="true"/>
          <p:nvPr/>
        </p:nvSpPr>
        <p:spPr>
          <a:xfrm rot="0">
            <a:off x="11869124" y="6301376"/>
            <a:ext cx="5032861" cy="1654810"/>
          </a:xfrm>
          <a:prstGeom prst="rect">
            <a:avLst/>
          </a:prstGeom>
        </p:spPr>
        <p:txBody>
          <a:bodyPr anchor="t" rtlCol="false" tIns="0" lIns="0" bIns="0" rIns="0">
            <a:spAutoFit/>
          </a:bodyPr>
          <a:lstStyle/>
          <a:p>
            <a:pPr algn="l">
              <a:lnSpc>
                <a:spcPts val="2210"/>
              </a:lnSpc>
            </a:pPr>
            <a:r>
              <a:rPr lang="en-US" sz="1700" spc="85">
                <a:solidFill>
                  <a:srgbClr val="000000"/>
                </a:solidFill>
                <a:latin typeface="Quicksand"/>
                <a:ea typeface="Quicksand"/>
                <a:cs typeface="Quicksand"/>
                <a:sym typeface="Quicksand"/>
              </a:rPr>
              <a:t>develop separate sentiment dashboards per brand and per product line, iPhone vs MacOS vs Google Maps vs Pixel so that product managers can monitor sentiment relevant to their specific area of ownership rather than a broad aggregated score.</a:t>
            </a:r>
          </a:p>
        </p:txBody>
      </p:sp>
      <p:sp>
        <p:nvSpPr>
          <p:cNvPr name="TextBox 40" id="40"/>
          <p:cNvSpPr txBox="true"/>
          <p:nvPr/>
        </p:nvSpPr>
        <p:spPr>
          <a:xfrm rot="0">
            <a:off x="1028700" y="461310"/>
            <a:ext cx="16230600" cy="1492830"/>
          </a:xfrm>
          <a:prstGeom prst="rect">
            <a:avLst/>
          </a:prstGeom>
        </p:spPr>
        <p:txBody>
          <a:bodyPr anchor="t" rtlCol="false" tIns="0" lIns="0" bIns="0" rIns="0">
            <a:spAutoFit/>
          </a:bodyPr>
          <a:lstStyle/>
          <a:p>
            <a:pPr algn="ctr" marL="0" indent="0" lvl="0">
              <a:lnSpc>
                <a:spcPts val="11605"/>
              </a:lnSpc>
            </a:pPr>
            <a:r>
              <a:rPr lang="en-US" sz="10091">
                <a:solidFill>
                  <a:srgbClr val="BD3414"/>
                </a:solidFill>
                <a:latin typeface="Archivo Black"/>
                <a:ea typeface="Archivo Black"/>
                <a:cs typeface="Archivo Black"/>
                <a:sym typeface="Archivo Black"/>
              </a:rPr>
              <a:t>Recommendations</a:t>
            </a:r>
          </a:p>
        </p:txBody>
      </p:sp>
      <p:sp>
        <p:nvSpPr>
          <p:cNvPr name="Freeform 41" id="41"/>
          <p:cNvSpPr/>
          <p:nvPr/>
        </p:nvSpPr>
        <p:spPr>
          <a:xfrm flipH="false" flipV="false" rot="0">
            <a:off x="14173200" y="8666828"/>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42" id="42"/>
          <p:cNvSpPr/>
          <p:nvPr/>
        </p:nvSpPr>
        <p:spPr>
          <a:xfrm flipH="false" flipV="false" rot="0">
            <a:off x="-2641329" y="-1028700"/>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EBDBCC"/>
        </a:solidFill>
      </p:bgPr>
    </p:bg>
    <p:spTree>
      <p:nvGrpSpPr>
        <p:cNvPr id="1" name=""/>
        <p:cNvGrpSpPr/>
        <p:nvPr/>
      </p:nvGrpSpPr>
      <p:grpSpPr>
        <a:xfrm>
          <a:off x="0" y="0"/>
          <a:ext cx="0" cy="0"/>
          <a:chOff x="0" y="0"/>
          <a:chExt cx="0" cy="0"/>
        </a:xfrm>
      </p:grpSpPr>
      <p:sp>
        <p:nvSpPr>
          <p:cNvPr name="Freeform 2" id="2"/>
          <p:cNvSpPr/>
          <p:nvPr/>
        </p:nvSpPr>
        <p:spPr>
          <a:xfrm flipH="false" flipV="false" rot="0">
            <a:off x="3879801" y="-706849"/>
            <a:ext cx="11700697" cy="11700697"/>
          </a:xfrm>
          <a:custGeom>
            <a:avLst/>
            <a:gdLst/>
            <a:ahLst/>
            <a:cxnLst/>
            <a:rect r="r" b="b" t="t" l="l"/>
            <a:pathLst>
              <a:path h="11700697" w="11700697">
                <a:moveTo>
                  <a:pt x="0" y="0"/>
                </a:moveTo>
                <a:lnTo>
                  <a:pt x="11700697" y="0"/>
                </a:lnTo>
                <a:lnTo>
                  <a:pt x="11700697" y="11700698"/>
                </a:lnTo>
                <a:lnTo>
                  <a:pt x="0" y="11700698"/>
                </a:lnTo>
                <a:lnTo>
                  <a:pt x="0" y="0"/>
                </a:lnTo>
                <a:close/>
              </a:path>
            </a:pathLst>
          </a:custGeom>
          <a:blipFill>
            <a:blip r:embed="rId2">
              <a:alphaModFix amt="18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146562" y="1172893"/>
            <a:ext cx="4171653" cy="4515998"/>
          </a:xfrm>
          <a:custGeom>
            <a:avLst/>
            <a:gdLst/>
            <a:ahLst/>
            <a:cxnLst/>
            <a:rect r="r" b="b" t="t" l="l"/>
            <a:pathLst>
              <a:path h="4515998" w="4171653">
                <a:moveTo>
                  <a:pt x="0" y="0"/>
                </a:moveTo>
                <a:lnTo>
                  <a:pt x="4171653" y="0"/>
                </a:lnTo>
                <a:lnTo>
                  <a:pt x="4171653" y="4515998"/>
                </a:lnTo>
                <a:lnTo>
                  <a:pt x="0" y="4515998"/>
                </a:lnTo>
                <a:lnTo>
                  <a:pt x="0" y="0"/>
                </a:lnTo>
                <a:close/>
              </a:path>
            </a:pathLst>
          </a:custGeom>
          <a:blipFill>
            <a:blip r:embed="rId4"/>
            <a:stretch>
              <a:fillRect l="0" t="0" r="0" b="0"/>
            </a:stretch>
          </a:blipFill>
        </p:spPr>
      </p:sp>
      <p:sp>
        <p:nvSpPr>
          <p:cNvPr name="Freeform 4" id="4"/>
          <p:cNvSpPr/>
          <p:nvPr/>
        </p:nvSpPr>
        <p:spPr>
          <a:xfrm flipH="false" flipV="false" rot="0">
            <a:off x="-1447005" y="5544011"/>
            <a:ext cx="4951410" cy="1225474"/>
          </a:xfrm>
          <a:custGeom>
            <a:avLst/>
            <a:gdLst/>
            <a:ahLst/>
            <a:cxnLst/>
            <a:rect r="r" b="b" t="t" l="l"/>
            <a:pathLst>
              <a:path h="1225474" w="4951410">
                <a:moveTo>
                  <a:pt x="0" y="0"/>
                </a:moveTo>
                <a:lnTo>
                  <a:pt x="4951410" y="0"/>
                </a:lnTo>
                <a:lnTo>
                  <a:pt x="4951410" y="1225474"/>
                </a:lnTo>
                <a:lnTo>
                  <a:pt x="0" y="122547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0">
            <a:off x="699291" y="865771"/>
            <a:ext cx="445554" cy="502741"/>
          </a:xfrm>
          <a:custGeom>
            <a:avLst/>
            <a:gdLst/>
            <a:ahLst/>
            <a:cxnLst/>
            <a:rect r="r" b="b" t="t" l="l"/>
            <a:pathLst>
              <a:path h="502741" w="445554">
                <a:moveTo>
                  <a:pt x="0" y="0"/>
                </a:moveTo>
                <a:lnTo>
                  <a:pt x="445554" y="0"/>
                </a:lnTo>
                <a:lnTo>
                  <a:pt x="445554" y="502741"/>
                </a:lnTo>
                <a:lnTo>
                  <a:pt x="0" y="502741"/>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6" id="6"/>
          <p:cNvSpPr/>
          <p:nvPr/>
        </p:nvSpPr>
        <p:spPr>
          <a:xfrm flipH="false" flipV="false" rot="0">
            <a:off x="16127965" y="-1470166"/>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7" id="7"/>
          <p:cNvSpPr/>
          <p:nvPr/>
        </p:nvSpPr>
        <p:spPr>
          <a:xfrm flipH="false" flipV="false" rot="0">
            <a:off x="2585964" y="3195536"/>
            <a:ext cx="1662675" cy="1662675"/>
          </a:xfrm>
          <a:custGeom>
            <a:avLst/>
            <a:gdLst/>
            <a:ahLst/>
            <a:cxnLst/>
            <a:rect r="r" b="b" t="t" l="l"/>
            <a:pathLst>
              <a:path h="1662675" w="1662675">
                <a:moveTo>
                  <a:pt x="0" y="0"/>
                </a:moveTo>
                <a:lnTo>
                  <a:pt x="1662675" y="0"/>
                </a:lnTo>
                <a:lnTo>
                  <a:pt x="1662675" y="1662675"/>
                </a:lnTo>
                <a:lnTo>
                  <a:pt x="0" y="1662675"/>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8" id="8"/>
          <p:cNvSpPr/>
          <p:nvPr/>
        </p:nvSpPr>
        <p:spPr>
          <a:xfrm flipH="false" flipV="false" rot="0">
            <a:off x="14566330" y="5986861"/>
            <a:ext cx="1297547" cy="1297547"/>
          </a:xfrm>
          <a:custGeom>
            <a:avLst/>
            <a:gdLst/>
            <a:ahLst/>
            <a:cxnLst/>
            <a:rect r="r" b="b" t="t" l="l"/>
            <a:pathLst>
              <a:path h="1297547" w="1297547">
                <a:moveTo>
                  <a:pt x="0" y="0"/>
                </a:moveTo>
                <a:lnTo>
                  <a:pt x="1297547" y="0"/>
                </a:lnTo>
                <a:lnTo>
                  <a:pt x="1297547" y="1297547"/>
                </a:lnTo>
                <a:lnTo>
                  <a:pt x="0" y="1297547"/>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9" id="9"/>
          <p:cNvSpPr/>
          <p:nvPr/>
        </p:nvSpPr>
        <p:spPr>
          <a:xfrm flipH="false" flipV="false" rot="0">
            <a:off x="16669309" y="8523293"/>
            <a:ext cx="1763707" cy="1763707"/>
          </a:xfrm>
          <a:custGeom>
            <a:avLst/>
            <a:gdLst/>
            <a:ahLst/>
            <a:cxnLst/>
            <a:rect r="r" b="b" t="t" l="l"/>
            <a:pathLst>
              <a:path h="1763707" w="1763707">
                <a:moveTo>
                  <a:pt x="0" y="0"/>
                </a:moveTo>
                <a:lnTo>
                  <a:pt x="1763706" y="0"/>
                </a:lnTo>
                <a:lnTo>
                  <a:pt x="1763706" y="1763707"/>
                </a:lnTo>
                <a:lnTo>
                  <a:pt x="0" y="1763707"/>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Freeform 10" id="10"/>
          <p:cNvSpPr/>
          <p:nvPr/>
        </p:nvSpPr>
        <p:spPr>
          <a:xfrm flipH="false" flipV="false" rot="0">
            <a:off x="699291" y="8251795"/>
            <a:ext cx="1567457" cy="1567457"/>
          </a:xfrm>
          <a:custGeom>
            <a:avLst/>
            <a:gdLst/>
            <a:ahLst/>
            <a:cxnLst/>
            <a:rect r="r" b="b" t="t" l="l"/>
            <a:pathLst>
              <a:path h="1567457" w="1567457">
                <a:moveTo>
                  <a:pt x="0" y="0"/>
                </a:moveTo>
                <a:lnTo>
                  <a:pt x="1567457" y="0"/>
                </a:lnTo>
                <a:lnTo>
                  <a:pt x="1567457" y="1567456"/>
                </a:lnTo>
                <a:lnTo>
                  <a:pt x="0" y="1567456"/>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sp>
        <p:nvSpPr>
          <p:cNvPr name="TextBox 11" id="11"/>
          <p:cNvSpPr txBox="true"/>
          <p:nvPr/>
        </p:nvSpPr>
        <p:spPr>
          <a:xfrm rot="-1114158">
            <a:off x="3212137" y="2546373"/>
            <a:ext cx="7507166" cy="2752444"/>
          </a:xfrm>
          <a:prstGeom prst="rect">
            <a:avLst/>
          </a:prstGeom>
        </p:spPr>
        <p:txBody>
          <a:bodyPr anchor="t" rtlCol="false" tIns="0" lIns="0" bIns="0" rIns="0">
            <a:spAutoFit/>
          </a:bodyPr>
          <a:lstStyle/>
          <a:p>
            <a:pPr algn="ctr" marL="0" indent="0" lvl="0">
              <a:lnSpc>
                <a:spcPts val="16950"/>
              </a:lnSpc>
            </a:pPr>
            <a:r>
              <a:rPr lang="en-US" sz="14739">
                <a:solidFill>
                  <a:srgbClr val="296EB5"/>
                </a:solidFill>
                <a:latin typeface="Archivo Black"/>
                <a:ea typeface="Archivo Black"/>
                <a:cs typeface="Archivo Black"/>
                <a:sym typeface="Archivo Black"/>
              </a:rPr>
              <a:t>Thank </a:t>
            </a:r>
          </a:p>
        </p:txBody>
      </p:sp>
      <p:sp>
        <p:nvSpPr>
          <p:cNvPr name="TextBox 12" id="12"/>
          <p:cNvSpPr txBox="true"/>
          <p:nvPr/>
        </p:nvSpPr>
        <p:spPr>
          <a:xfrm rot="204735">
            <a:off x="7410304" y="4382937"/>
            <a:ext cx="4069526" cy="2262992"/>
          </a:xfrm>
          <a:prstGeom prst="rect">
            <a:avLst/>
          </a:prstGeom>
        </p:spPr>
        <p:txBody>
          <a:bodyPr anchor="t" rtlCol="false" tIns="0" lIns="0" bIns="0" rIns="0">
            <a:spAutoFit/>
          </a:bodyPr>
          <a:lstStyle/>
          <a:p>
            <a:pPr algn="ctr" marL="0" indent="0" lvl="0">
              <a:lnSpc>
                <a:spcPts val="16950"/>
              </a:lnSpc>
            </a:pPr>
            <a:r>
              <a:rPr lang="en-US" sz="14739">
                <a:solidFill>
                  <a:srgbClr val="296EB5"/>
                </a:solidFill>
                <a:latin typeface="Archivo Black"/>
                <a:ea typeface="Archivo Black"/>
                <a:cs typeface="Archivo Black"/>
                <a:sym typeface="Archivo Black"/>
              </a:rPr>
              <a:t>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DAHFQbImiaA</dc:identifier>
  <dcterms:modified xsi:type="dcterms:W3CDTF">2011-08-01T06:04:30Z</dcterms:modified>
  <cp:revision>1</cp:revision>
  <dc:title>Group 1 Phase 4 Presentation</dc:title>
</cp:coreProperties>
</file>